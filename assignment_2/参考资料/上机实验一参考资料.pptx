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2"/>
  </p:notesMasterIdLst>
  <p:sldIdLst>
    <p:sldId id="337" r:id="rId2"/>
    <p:sldId id="338" r:id="rId3"/>
    <p:sldId id="339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FFCCFF"/>
    <a:srgbClr val="FFFFCC"/>
    <a:srgbClr val="FF9999"/>
    <a:srgbClr val="FFFF00"/>
    <a:srgbClr val="00FFFF"/>
    <a:srgbClr val="FF3300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57" autoAdjust="0"/>
  </p:normalViewPr>
  <p:slideViewPr>
    <p:cSldViewPr>
      <p:cViewPr varScale="1">
        <p:scale>
          <a:sx n="110" d="100"/>
          <a:sy n="110" d="100"/>
        </p:scale>
        <p:origin x="164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64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C1051E-8A44-4265-BA0C-BB5BF446303D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5C0D3-9E89-4E1A-AF5A-8CF2AF9D4F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626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067B88-2518-4661-9E3D-4D6350D510F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502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706238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1064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0964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85670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44523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01762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6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140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72788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17055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55605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3438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图片 11" descr="K1.jpg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597650"/>
            <a:ext cx="5254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7" name="图片 12" descr="K2.jp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8" name="图片 13" descr="K3.jpg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550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0.png"/><Relationship Id="rId5" Type="http://schemas.openxmlformats.org/officeDocument/2006/relationships/image" Target="../media/image36.png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8.png"/><Relationship Id="rId4" Type="http://schemas.openxmlformats.org/officeDocument/2006/relationships/image" Target="../media/image12.wmf"/><Relationship Id="rId9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oleObject" Target="../embeddings/oleObject17.bin"/><Relationship Id="rId7" Type="http://schemas.openxmlformats.org/officeDocument/2006/relationships/image" Target="../media/image5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3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image" Target="../media/image5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9.png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5.emf"/><Relationship Id="rId10" Type="http://schemas.openxmlformats.org/officeDocument/2006/relationships/image" Target="../media/image64.png"/><Relationship Id="rId4" Type="http://schemas.openxmlformats.org/officeDocument/2006/relationships/image" Target="../media/image59.png"/><Relationship Id="rId9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304124" y="1124744"/>
            <a:ext cx="2347996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zh-CN" altLang="en-US" sz="2800" b="1" dirty="0"/>
              <a:t>世界人口增长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002602"/>
              </p:ext>
            </p:extLst>
          </p:nvPr>
        </p:nvGraphicFramePr>
        <p:xfrm>
          <a:off x="323528" y="1772816"/>
          <a:ext cx="8352932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52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52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2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52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</a:rPr>
                        <a:t>年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1625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1804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1927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1960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1974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1987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1999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2011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</a:rPr>
                        <a:t>人口</a:t>
                      </a:r>
                      <a:r>
                        <a:rPr lang="en-US" altLang="zh-CN" sz="2400" b="1" kern="100" dirty="0">
                          <a:effectLst/>
                        </a:rPr>
                        <a:t>(</a:t>
                      </a:r>
                      <a:r>
                        <a:rPr lang="zh-CN" sz="2400" b="1" kern="100" dirty="0">
                          <a:effectLst/>
                        </a:rPr>
                        <a:t>亿</a:t>
                      </a:r>
                      <a:r>
                        <a:rPr lang="en-US" altLang="zh-CN" sz="2400" b="1" kern="100" dirty="0">
                          <a:effectLst/>
                        </a:rPr>
                        <a:t>)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5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10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20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30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40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50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60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70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673705"/>
              </p:ext>
            </p:extLst>
          </p:nvPr>
        </p:nvGraphicFramePr>
        <p:xfrm>
          <a:off x="323525" y="4353664"/>
          <a:ext cx="8208915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4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</a:rPr>
                        <a:t>年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1949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1953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1965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1982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>
                          <a:effectLst/>
                        </a:rPr>
                        <a:t>1990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2000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>
                          <a:effectLst/>
                        </a:rPr>
                        <a:t>2010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zh-CN" sz="2400" b="1" kern="100" dirty="0">
                          <a:effectLst/>
                        </a:rPr>
                        <a:t>人口</a:t>
                      </a:r>
                      <a:r>
                        <a:rPr lang="en-US" altLang="zh-CN" sz="2400" b="1" kern="100" dirty="0">
                          <a:effectLst/>
                        </a:rPr>
                        <a:t>(</a:t>
                      </a:r>
                      <a:r>
                        <a:rPr lang="zh-CN" altLang="zh-CN" sz="2400" b="1" kern="100" dirty="0">
                          <a:effectLst/>
                        </a:rPr>
                        <a:t>亿</a:t>
                      </a:r>
                      <a:r>
                        <a:rPr lang="en-US" altLang="zh-CN" sz="2400" b="1" kern="100" dirty="0">
                          <a:effectLst/>
                        </a:rPr>
                        <a:t>)</a:t>
                      </a:r>
                      <a:endParaRPr lang="zh-CN" altLang="zh-CN" sz="2400" b="1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5.42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5.88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7.25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10.17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11.43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12.67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13.40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251520" y="2751311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/>
              <a:t>人口翻番时间</a:t>
            </a:r>
            <a:endParaRPr lang="zh-CN" altLang="en-US" b="1" dirty="0"/>
          </a:p>
        </p:txBody>
      </p:sp>
      <p:grpSp>
        <p:nvGrpSpPr>
          <p:cNvPr id="3" name="组合 2"/>
          <p:cNvGrpSpPr/>
          <p:nvPr/>
        </p:nvGrpSpPr>
        <p:grpSpPr>
          <a:xfrm>
            <a:off x="2684321" y="2492896"/>
            <a:ext cx="1023583" cy="720080"/>
            <a:chOff x="2684321" y="2492896"/>
            <a:chExt cx="1023583" cy="720080"/>
          </a:xfrm>
        </p:grpSpPr>
        <p:sp>
          <p:nvSpPr>
            <p:cNvPr id="12" name="TextBox 11"/>
            <p:cNvSpPr txBox="1"/>
            <p:nvPr/>
          </p:nvSpPr>
          <p:spPr>
            <a:xfrm>
              <a:off x="2684321" y="2751311"/>
              <a:ext cx="1023583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123</a:t>
              </a:r>
              <a:r>
                <a:rPr lang="zh-CN" altLang="en-US" b="1" dirty="0"/>
                <a:t>年</a:t>
              </a:r>
            </a:p>
          </p:txBody>
        </p:sp>
        <p:cxnSp>
          <p:nvCxnSpPr>
            <p:cNvPr id="19" name="直接箭头连接符 18"/>
            <p:cNvCxnSpPr/>
            <p:nvPr/>
          </p:nvCxnSpPr>
          <p:spPr bwMode="auto">
            <a:xfrm>
              <a:off x="2771800" y="2492898"/>
              <a:ext cx="0" cy="25841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2" name="直接箭头连接符 21"/>
            <p:cNvCxnSpPr/>
            <p:nvPr/>
          </p:nvCxnSpPr>
          <p:spPr bwMode="auto">
            <a:xfrm flipV="1">
              <a:off x="3635896" y="2492896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" name="组合 4"/>
          <p:cNvGrpSpPr/>
          <p:nvPr/>
        </p:nvGrpSpPr>
        <p:grpSpPr>
          <a:xfrm>
            <a:off x="4716015" y="2492896"/>
            <a:ext cx="2664296" cy="749697"/>
            <a:chOff x="4716015" y="2492896"/>
            <a:chExt cx="2664296" cy="749697"/>
          </a:xfrm>
        </p:grpSpPr>
        <p:cxnSp>
          <p:nvCxnSpPr>
            <p:cNvPr id="25" name="直接箭头连接符 24"/>
            <p:cNvCxnSpPr/>
            <p:nvPr/>
          </p:nvCxnSpPr>
          <p:spPr bwMode="auto">
            <a:xfrm>
              <a:off x="4716015" y="2492898"/>
              <a:ext cx="1152129" cy="28803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" name="直接箭头连接符 25"/>
            <p:cNvCxnSpPr>
              <a:stCxn id="27" idx="0"/>
            </p:cNvCxnSpPr>
            <p:nvPr/>
          </p:nvCxnSpPr>
          <p:spPr bwMode="auto">
            <a:xfrm flipV="1">
              <a:off x="6595697" y="2492896"/>
              <a:ext cx="712607" cy="28803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7" name="TextBox 26"/>
            <p:cNvSpPr txBox="1"/>
            <p:nvPr/>
          </p:nvSpPr>
          <p:spPr>
            <a:xfrm>
              <a:off x="5811082" y="2780928"/>
              <a:ext cx="1569229" cy="46166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       39</a:t>
              </a:r>
              <a:r>
                <a:rPr lang="zh-CN" altLang="en-US" b="1" dirty="0"/>
                <a:t>年</a:t>
              </a:r>
            </a:p>
          </p:txBody>
        </p:sp>
      </p:grp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3304124" y="3705592"/>
            <a:ext cx="2347996" cy="609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zh-CN" altLang="en-US" b="1" dirty="0"/>
              <a:t>中国人口增长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779911" y="2492896"/>
            <a:ext cx="1872209" cy="720080"/>
            <a:chOff x="3779911" y="2492896"/>
            <a:chExt cx="1872209" cy="720080"/>
          </a:xfrm>
        </p:grpSpPr>
        <p:sp>
          <p:nvSpPr>
            <p:cNvPr id="13" name="TextBox 12"/>
            <p:cNvSpPr txBox="1"/>
            <p:nvPr/>
          </p:nvSpPr>
          <p:spPr>
            <a:xfrm>
              <a:off x="3779911" y="2751311"/>
              <a:ext cx="1872209" cy="461665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       47</a:t>
              </a:r>
              <a:r>
                <a:rPr lang="zh-CN" altLang="en-US" b="1" dirty="0"/>
                <a:t>年</a:t>
              </a:r>
            </a:p>
          </p:txBody>
        </p:sp>
        <p:cxnSp>
          <p:nvCxnSpPr>
            <p:cNvPr id="24" name="直接箭头连接符 23"/>
            <p:cNvCxnSpPr/>
            <p:nvPr/>
          </p:nvCxnSpPr>
          <p:spPr bwMode="auto">
            <a:xfrm flipV="1">
              <a:off x="5076056" y="2492896"/>
              <a:ext cx="432048" cy="25841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8" name="直接箭头连接符 27"/>
            <p:cNvCxnSpPr/>
            <p:nvPr/>
          </p:nvCxnSpPr>
          <p:spPr bwMode="auto">
            <a:xfrm>
              <a:off x="3779912" y="2492896"/>
              <a:ext cx="396044" cy="25841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257533"/>
              </p:ext>
            </p:extLst>
          </p:nvPr>
        </p:nvGraphicFramePr>
        <p:xfrm>
          <a:off x="8100392" y="628650"/>
          <a:ext cx="610093" cy="800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5" name="Clip" r:id="rId3" imgW="3848100" imgH="5478463" progId="MS_ClipArt_Gallery.2">
                  <p:embed/>
                </p:oleObj>
              </mc:Choice>
              <mc:Fallback>
                <p:oleObj name="Clip" r:id="rId3" imgW="3848100" imgH="547846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628650"/>
                        <a:ext cx="610093" cy="800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2133600" y="478413"/>
            <a:ext cx="4598640" cy="646331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600" b="1" dirty="0">
                <a:latin typeface="+mj-lt"/>
                <a:ea typeface="隶书" panose="02010509060101010101" pitchFamily="49" charset="-122"/>
              </a:rPr>
              <a:t>5.1   </a:t>
            </a:r>
            <a:r>
              <a:rPr lang="zh-CN" altLang="en-US" sz="3600" b="1" dirty="0">
                <a:latin typeface="+mj-lt"/>
                <a:ea typeface="隶书" panose="02010509060101010101" pitchFamily="49" charset="-122"/>
              </a:rPr>
              <a:t>人口增长预测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289878"/>
              </p:ext>
            </p:extLst>
          </p:nvPr>
        </p:nvGraphicFramePr>
        <p:xfrm>
          <a:off x="2549771" y="4353664"/>
          <a:ext cx="2993481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7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rgbClr val="FF0000"/>
                          </a:solidFill>
                          <a:effectLst/>
                        </a:rPr>
                        <a:t>1953</a:t>
                      </a:r>
                      <a:endParaRPr lang="zh-CN" sz="24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1965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rgbClr val="FF0000"/>
                          </a:solidFill>
                          <a:effectLst/>
                        </a:rPr>
                        <a:t>1982</a:t>
                      </a:r>
                      <a:endParaRPr lang="zh-CN" sz="24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rgbClr val="FF0000"/>
                          </a:solidFill>
                          <a:effectLst/>
                        </a:rPr>
                        <a:t>5.88</a:t>
                      </a:r>
                      <a:endParaRPr lang="zh-CN" sz="24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</a:rPr>
                        <a:t>7.25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rgbClr val="FF0000"/>
                          </a:solidFill>
                          <a:effectLst/>
                        </a:rPr>
                        <a:t>10.17</a:t>
                      </a:r>
                      <a:endParaRPr lang="zh-CN" sz="24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97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5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/>
      <p:bldP spid="3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913609"/>
              </p:ext>
            </p:extLst>
          </p:nvPr>
        </p:nvGraphicFramePr>
        <p:xfrm>
          <a:off x="8100392" y="467866"/>
          <a:ext cx="610093" cy="800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68" name="Clip" r:id="rId3" imgW="3848100" imgH="5478463" progId="MS_ClipArt_Gallery.2">
                  <p:embed/>
                </p:oleObj>
              </mc:Choice>
              <mc:Fallback>
                <p:oleObj name="Clip" r:id="rId3" imgW="3848100" imgH="547846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467866"/>
                        <a:ext cx="610093" cy="800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644519" y="5517232"/>
            <a:ext cx="3849117" cy="523220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/>
              <a:t>3. </a:t>
            </a:r>
            <a:r>
              <a:rPr lang="zh-CN" altLang="zh-CN" sz="2800" b="1" dirty="0"/>
              <a:t>模型检验和增长预测</a:t>
            </a:r>
            <a:endParaRPr lang="zh-CN" altLang="en-US" sz="2800" b="1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366929"/>
              </p:ext>
            </p:extLst>
          </p:nvPr>
        </p:nvGraphicFramePr>
        <p:xfrm>
          <a:off x="107505" y="2564904"/>
          <a:ext cx="8928992" cy="2808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7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3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3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38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38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38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1429"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</a:rPr>
                        <a:t>年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1790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1800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1810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1820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1830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1840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1850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1860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429"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</a:rPr>
                        <a:t>人口</a:t>
                      </a:r>
                      <a:r>
                        <a:rPr lang="en-US" altLang="zh-CN" sz="2000" b="1" kern="100" dirty="0">
                          <a:effectLst/>
                        </a:rPr>
                        <a:t>(</a:t>
                      </a:r>
                      <a:r>
                        <a:rPr lang="zh-CN" sz="2000" b="1" kern="100" dirty="0">
                          <a:effectLst/>
                        </a:rPr>
                        <a:t>百万</a:t>
                      </a:r>
                      <a:r>
                        <a:rPr lang="en-US" altLang="zh-CN" sz="2000" b="1" kern="100" dirty="0">
                          <a:effectLst/>
                        </a:rPr>
                        <a:t>)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3.9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5.3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7.2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9.6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12.9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17.1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23.2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31.4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429"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</a:rPr>
                        <a:t>增长率</a:t>
                      </a:r>
                      <a:r>
                        <a:rPr lang="en-US" sz="2000" b="1" kern="100" dirty="0">
                          <a:effectLst/>
                        </a:rPr>
                        <a:t>/10</a:t>
                      </a:r>
                      <a:r>
                        <a:rPr lang="zh-CN" sz="2000" b="1" kern="100" dirty="0">
                          <a:effectLst/>
                        </a:rPr>
                        <a:t>年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0.2949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0.3113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0.2986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0.2969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0.2907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0.3012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0.3082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0.2452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429"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</a:rPr>
                        <a:t>年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1870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1880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1890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1900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1910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1920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1930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1940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429"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</a:rPr>
                        <a:t>人口</a:t>
                      </a:r>
                      <a:r>
                        <a:rPr lang="en-US" altLang="zh-CN" sz="2000" b="1" kern="100" dirty="0">
                          <a:effectLst/>
                        </a:rPr>
                        <a:t>(</a:t>
                      </a:r>
                      <a:r>
                        <a:rPr lang="zh-CN" sz="2000" b="1" kern="100" dirty="0">
                          <a:effectLst/>
                        </a:rPr>
                        <a:t>百万</a:t>
                      </a:r>
                      <a:r>
                        <a:rPr lang="en-US" altLang="zh-CN" sz="2000" b="1" kern="100" dirty="0">
                          <a:effectLst/>
                        </a:rPr>
                        <a:t>)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38.6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50.2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62.9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76.0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92.0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105.7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122.8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131.7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429"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</a:rPr>
                        <a:t>增长率</a:t>
                      </a:r>
                      <a:r>
                        <a:rPr lang="en-US" sz="2000" b="1" kern="100" dirty="0">
                          <a:effectLst/>
                        </a:rPr>
                        <a:t>/10</a:t>
                      </a:r>
                      <a:r>
                        <a:rPr lang="zh-CN" sz="2000" b="1" kern="100" dirty="0">
                          <a:effectLst/>
                        </a:rPr>
                        <a:t>年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0.2435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0.2420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0.2051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0.1914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0.1614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0.1457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0.1059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0.1059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429"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</a:rPr>
                        <a:t>年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1950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1960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1970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1980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1990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2000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2010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 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525"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</a:rPr>
                        <a:t>人口</a:t>
                      </a:r>
                      <a:r>
                        <a:rPr lang="en-US" altLang="zh-CN" sz="2000" b="1" kern="100" dirty="0">
                          <a:effectLst/>
                        </a:rPr>
                        <a:t>(</a:t>
                      </a:r>
                      <a:r>
                        <a:rPr lang="zh-CN" sz="2000" b="1" kern="100" dirty="0">
                          <a:effectLst/>
                        </a:rPr>
                        <a:t>百万</a:t>
                      </a:r>
                      <a:r>
                        <a:rPr lang="en-US" altLang="zh-CN" sz="2000" b="1" kern="100" dirty="0">
                          <a:effectLst/>
                        </a:rPr>
                        <a:t>)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150.7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179.3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203.2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226.5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248.7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281.4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308.7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187"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</a:rPr>
                        <a:t>增长率</a:t>
                      </a:r>
                      <a:r>
                        <a:rPr lang="en-US" sz="2000" b="1" kern="100" dirty="0">
                          <a:effectLst/>
                        </a:rPr>
                        <a:t>/10</a:t>
                      </a:r>
                      <a:r>
                        <a:rPr lang="zh-CN" sz="2000" b="1" kern="100" dirty="0">
                          <a:effectLst/>
                        </a:rPr>
                        <a:t>年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0.1579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0.1464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0.1161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0.1004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0.1104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0.1349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indent="-1778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 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683568" y="620687"/>
            <a:ext cx="7200800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/>
              <a:t>建立数学模型描述人口发展规律，是制定积极、稳妥人口政策的前提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17" name="矩形 16"/>
          <p:cNvSpPr/>
          <p:nvPr/>
        </p:nvSpPr>
        <p:spPr>
          <a:xfrm>
            <a:off x="644519" y="1892607"/>
            <a:ext cx="3789820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1. </a:t>
            </a:r>
            <a:r>
              <a:rPr lang="zh-CN" altLang="zh-CN" sz="2800" b="1" dirty="0"/>
              <a:t>两个</a:t>
            </a:r>
            <a:r>
              <a:rPr lang="zh-CN" altLang="en-US" sz="2800" b="1" dirty="0"/>
              <a:t>基本的</a:t>
            </a:r>
            <a:r>
              <a:rPr lang="zh-CN" altLang="zh-CN" sz="2800" b="1" dirty="0"/>
              <a:t>人口模型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4572000" y="1883039"/>
            <a:ext cx="4511171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2. </a:t>
            </a:r>
            <a:r>
              <a:rPr lang="zh-CN" altLang="en-US" sz="2800" b="1" dirty="0"/>
              <a:t>用</a:t>
            </a:r>
            <a:r>
              <a:rPr lang="zh-CN" altLang="zh-CN" sz="2800" b="1" dirty="0">
                <a:solidFill>
                  <a:srgbClr val="FF0000"/>
                </a:solidFill>
              </a:rPr>
              <a:t>美国人口数据</a:t>
            </a:r>
            <a:r>
              <a:rPr lang="zh-CN" altLang="zh-CN" sz="2800" b="1" dirty="0"/>
              <a:t>估计参数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465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17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8035925" y="620713"/>
          <a:ext cx="803275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0" name="Clip" r:id="rId3" imgW="3848040" imgH="5478120" progId="MS_ClipArt_Gallery.2">
                  <p:embed/>
                </p:oleObj>
              </mc:Choice>
              <mc:Fallback>
                <p:oleObj name="Clip" r:id="rId3" imgW="3848040" imgH="547812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5925" y="620713"/>
                        <a:ext cx="803275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3" name="Rectangle 3"/>
          <p:cNvSpPr>
            <a:spLocks noChangeArrowheads="1"/>
          </p:cNvSpPr>
          <p:nvPr/>
        </p:nvSpPr>
        <p:spPr bwMode="auto">
          <a:xfrm>
            <a:off x="2499649" y="577316"/>
            <a:ext cx="3940586" cy="5334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/>
          <a:lstStyle/>
          <a:p>
            <a:pPr algn="ctr"/>
            <a:r>
              <a:rPr lang="zh-CN" altLang="en-US" sz="3200" b="1" dirty="0">
                <a:latin typeface="隶书" panose="02010509060101010101" pitchFamily="49" charset="-122"/>
                <a:ea typeface="隶书" panose="02010509060101010101" pitchFamily="49" charset="-122"/>
              </a:rPr>
              <a:t>指数增长模型</a:t>
            </a: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696101" y="1842864"/>
            <a:ext cx="3810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2800" b="1" dirty="0"/>
              <a:t>今年人口 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0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年增长率 </a:t>
            </a:r>
            <a:r>
              <a:rPr lang="en-US" altLang="zh-CN" sz="2800" b="1" i="1" dirty="0"/>
              <a:t>r</a:t>
            </a:r>
            <a:endParaRPr lang="en-US" altLang="zh-CN" sz="2800" b="1" dirty="0"/>
          </a:p>
        </p:txBody>
      </p:sp>
      <p:sp>
        <p:nvSpPr>
          <p:cNvPr id="4" name="矩形 3"/>
          <p:cNvSpPr/>
          <p:nvPr/>
        </p:nvSpPr>
        <p:spPr>
          <a:xfrm>
            <a:off x="467544" y="1283568"/>
            <a:ext cx="4511171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1. </a:t>
            </a:r>
            <a:r>
              <a:rPr lang="zh-CN" altLang="zh-CN" sz="2800" b="1" dirty="0"/>
              <a:t>一个常用的人口预测公式</a:t>
            </a:r>
          </a:p>
        </p:txBody>
      </p:sp>
      <p:sp>
        <p:nvSpPr>
          <p:cNvPr id="5" name="矩形 4"/>
          <p:cNvSpPr/>
          <p:nvPr/>
        </p:nvSpPr>
        <p:spPr>
          <a:xfrm>
            <a:off x="683568" y="2492896"/>
            <a:ext cx="63367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b="1" dirty="0"/>
              <a:t>基本</a:t>
            </a:r>
            <a:r>
              <a:rPr lang="zh-CN" altLang="zh-CN" sz="2800" b="1" dirty="0">
                <a:solidFill>
                  <a:srgbClr val="FF0000"/>
                </a:solidFill>
              </a:rPr>
              <a:t>前提</a:t>
            </a:r>
            <a:r>
              <a:rPr lang="en-US" altLang="zh-CN" sz="2800" b="1" dirty="0"/>
              <a:t>~</a:t>
            </a:r>
            <a:r>
              <a:rPr lang="zh-CN" altLang="zh-CN" sz="2800" b="1" dirty="0"/>
              <a:t>增长率</a:t>
            </a:r>
            <a:r>
              <a:rPr lang="en-US" altLang="zh-CN" sz="2800" b="1" i="1" dirty="0"/>
              <a:t>r</a:t>
            </a:r>
            <a:r>
              <a:rPr lang="zh-CN" altLang="zh-CN" sz="2800" b="1" dirty="0"/>
              <a:t>在</a:t>
            </a:r>
            <a:r>
              <a:rPr lang="en-US" altLang="zh-CN" sz="2800" b="1" i="1" dirty="0"/>
              <a:t>k</a:t>
            </a:r>
            <a:r>
              <a:rPr lang="zh-CN" altLang="zh-CN" sz="2800" b="1" dirty="0"/>
              <a:t>年内保持不变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6" name="矩形 5"/>
          <p:cNvSpPr/>
          <p:nvPr/>
        </p:nvSpPr>
        <p:spPr>
          <a:xfrm>
            <a:off x="670252" y="3811590"/>
            <a:ext cx="80062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800" b="1" dirty="0"/>
              <a:t>根据人口统计数据</a:t>
            </a:r>
            <a:r>
              <a:rPr lang="zh-CN" altLang="zh-CN" sz="2800" b="1" dirty="0">
                <a:solidFill>
                  <a:srgbClr val="FF0000"/>
                </a:solidFill>
              </a:rPr>
              <a:t>估计增长率</a:t>
            </a:r>
            <a:r>
              <a:rPr lang="en-US" altLang="zh-CN" sz="2800" b="1" dirty="0"/>
              <a:t>——</a:t>
            </a:r>
            <a:r>
              <a:rPr lang="zh-CN" altLang="en-US" sz="2800" b="1" dirty="0"/>
              <a:t>由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0</a:t>
            </a:r>
            <a:r>
              <a:rPr lang="en-US" altLang="zh-CN" sz="2800" b="1" dirty="0"/>
              <a:t>, </a:t>
            </a:r>
            <a:r>
              <a:rPr lang="en-US" altLang="zh-CN" sz="2800" b="1" i="1" dirty="0" err="1"/>
              <a:t>x</a:t>
            </a:r>
            <a:r>
              <a:rPr lang="en-US" altLang="zh-CN" sz="2800" b="1" i="1" baseline="-25000" dirty="0" err="1"/>
              <a:t>k</a:t>
            </a:r>
            <a:r>
              <a:rPr lang="zh-CN" altLang="zh-CN" sz="2800" b="1" dirty="0"/>
              <a:t>估计</a:t>
            </a:r>
            <a:r>
              <a:rPr lang="en-US" altLang="zh-CN" sz="2800" b="1" i="1" dirty="0"/>
              <a:t>r.</a:t>
            </a:r>
            <a:endParaRPr lang="en-US" altLang="zh-CN" sz="2800" b="1" dirty="0"/>
          </a:p>
        </p:txBody>
      </p:sp>
      <p:sp>
        <p:nvSpPr>
          <p:cNvPr id="7" name="矩形 6"/>
          <p:cNvSpPr/>
          <p:nvPr/>
        </p:nvSpPr>
        <p:spPr>
          <a:xfrm>
            <a:off x="674288" y="3167390"/>
            <a:ext cx="45881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已知</a:t>
            </a:r>
            <a:r>
              <a:rPr lang="zh-CN" altLang="zh-CN" sz="2800" b="1" dirty="0"/>
              <a:t>增长率</a:t>
            </a:r>
            <a:r>
              <a:rPr lang="zh-CN" altLang="zh-CN" sz="2800" b="1" dirty="0">
                <a:solidFill>
                  <a:srgbClr val="FF0000"/>
                </a:solidFill>
              </a:rPr>
              <a:t>预测</a:t>
            </a:r>
            <a:r>
              <a:rPr lang="zh-CN" altLang="en-US" sz="2800" b="1" dirty="0">
                <a:solidFill>
                  <a:srgbClr val="FF0000"/>
                </a:solidFill>
              </a:rPr>
              <a:t>未来</a:t>
            </a:r>
            <a:r>
              <a:rPr lang="zh-CN" altLang="zh-CN" sz="2800" b="1" dirty="0">
                <a:solidFill>
                  <a:srgbClr val="FF0000"/>
                </a:solidFill>
              </a:rPr>
              <a:t>人口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pSp>
        <p:nvGrpSpPr>
          <p:cNvPr id="15" name="组合 14"/>
          <p:cNvGrpSpPr/>
          <p:nvPr/>
        </p:nvGrpSpPr>
        <p:grpSpPr>
          <a:xfrm>
            <a:off x="4794133" y="1887506"/>
            <a:ext cx="4026339" cy="533382"/>
            <a:chOff x="4794133" y="1887506"/>
            <a:chExt cx="4026339" cy="533382"/>
          </a:xfrm>
        </p:grpSpPr>
        <p:grpSp>
          <p:nvGrpSpPr>
            <p:cNvPr id="9" name="组合 8"/>
            <p:cNvGrpSpPr/>
            <p:nvPr/>
          </p:nvGrpSpPr>
          <p:grpSpPr>
            <a:xfrm>
              <a:off x="4903457" y="1887506"/>
              <a:ext cx="3917015" cy="533382"/>
              <a:chOff x="4716016" y="1980637"/>
              <a:chExt cx="3917015" cy="533382"/>
            </a:xfrm>
          </p:grpSpPr>
          <p:graphicFrame>
            <p:nvGraphicFramePr>
              <p:cNvPr id="30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396561"/>
                  </p:ext>
                </p:extLst>
              </p:nvPr>
            </p:nvGraphicFramePr>
            <p:xfrm>
              <a:off x="6440235" y="1980637"/>
              <a:ext cx="2192796" cy="5333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751" name="文档" r:id="rId5" imgW="896040" imgH="228600" progId="Word.Document.8">
                      <p:embed/>
                    </p:oleObj>
                  </mc:Choice>
                  <mc:Fallback>
                    <p:oleObj name="文档" r:id="rId5" imgW="896040" imgH="228600" progId="Word.Document.8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40235" y="1980637"/>
                            <a:ext cx="2192796" cy="533382"/>
                          </a:xfrm>
                          <a:prstGeom prst="rect">
                            <a:avLst/>
                          </a:prstGeom>
                          <a:solidFill>
                            <a:srgbClr val="FFFF00"/>
                          </a:solidFill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矩形 7"/>
              <p:cNvSpPr/>
              <p:nvPr/>
            </p:nvSpPr>
            <p:spPr>
              <a:xfrm>
                <a:off x="4716016" y="1990799"/>
                <a:ext cx="180690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/>
                  <a:t>k</a:t>
                </a:r>
                <a:r>
                  <a:rPr lang="zh-CN" altLang="zh-CN" sz="2800" b="1" dirty="0"/>
                  <a:t>年后人口</a:t>
                </a:r>
                <a:endParaRPr lang="zh-CN" altLang="en-US" sz="2800" b="1" dirty="0"/>
              </a:p>
            </p:txBody>
          </p:sp>
        </p:grpSp>
        <p:sp>
          <p:nvSpPr>
            <p:cNvPr id="10" name="右箭头 9"/>
            <p:cNvSpPr/>
            <p:nvPr/>
          </p:nvSpPr>
          <p:spPr bwMode="auto">
            <a:xfrm>
              <a:off x="4794133" y="1916832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833314" y="4509120"/>
            <a:ext cx="80591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例</a:t>
            </a:r>
            <a:r>
              <a:rPr lang="en-US" altLang="zh-CN" sz="2800" b="1" dirty="0"/>
              <a:t>. </a:t>
            </a:r>
            <a:r>
              <a:rPr lang="zh-CN" altLang="en-US" sz="2800" b="1" dirty="0"/>
              <a:t>从</a:t>
            </a:r>
            <a:r>
              <a:rPr lang="en-US" altLang="zh-CN" sz="2800" b="1" dirty="0"/>
              <a:t>1960</a:t>
            </a:r>
            <a:r>
              <a:rPr lang="zh-CN" altLang="zh-CN" sz="2800" b="1" dirty="0"/>
              <a:t>年到</a:t>
            </a:r>
            <a:r>
              <a:rPr lang="en-US" altLang="zh-CN" sz="2800" b="1" dirty="0"/>
              <a:t>1999</a:t>
            </a:r>
            <a:r>
              <a:rPr lang="zh-CN" altLang="zh-CN" sz="2800" b="1" dirty="0"/>
              <a:t>年</a:t>
            </a:r>
            <a:r>
              <a:rPr lang="en-US" altLang="zh-CN" sz="2800" b="1" dirty="0"/>
              <a:t>( 39</a:t>
            </a:r>
            <a:r>
              <a:rPr lang="zh-CN" altLang="en-US" sz="2800" b="1" dirty="0"/>
              <a:t>年时间</a:t>
            </a:r>
            <a:r>
              <a:rPr lang="en-US" altLang="zh-CN" sz="2800" b="1" dirty="0"/>
              <a:t>)</a:t>
            </a:r>
            <a:r>
              <a:rPr lang="zh-CN" altLang="zh-CN" sz="2800" b="1" dirty="0"/>
              <a:t>世界人口翻番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187624" y="5187970"/>
            <a:ext cx="7415818" cy="528980"/>
            <a:chOff x="1187624" y="5318884"/>
            <a:chExt cx="7415818" cy="528980"/>
          </a:xfrm>
        </p:grpSpPr>
        <p:sp>
          <p:nvSpPr>
            <p:cNvPr id="12" name="矩形 11"/>
            <p:cNvSpPr/>
            <p:nvPr/>
          </p:nvSpPr>
          <p:spPr>
            <a:xfrm>
              <a:off x="1313371" y="5318884"/>
              <a:ext cx="449353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该</a:t>
              </a:r>
              <a:r>
                <a:rPr lang="zh-CN" altLang="zh-CN" sz="2800" b="1" dirty="0"/>
                <a:t>期间的年平均增长率约为</a:t>
              </a:r>
              <a:endParaRPr lang="zh-CN" altLang="en-US" sz="2800" b="1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5724128" y="5324644"/>
              <a:ext cx="287931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i="1" dirty="0"/>
                <a:t>r</a:t>
              </a:r>
              <a:r>
                <a:rPr lang="en-US" altLang="zh-CN" sz="2800" dirty="0"/>
                <a:t>=(log2)/39=1.8%</a:t>
              </a:r>
              <a:endParaRPr lang="zh-CN" altLang="en-US" sz="2800" dirty="0"/>
            </a:p>
          </p:txBody>
        </p:sp>
        <p:sp>
          <p:nvSpPr>
            <p:cNvPr id="45" name="右箭头 44"/>
            <p:cNvSpPr/>
            <p:nvPr/>
          </p:nvSpPr>
          <p:spPr bwMode="auto">
            <a:xfrm>
              <a:off x="1187624" y="5320632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813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utoUpdateAnimBg="0"/>
      <p:bldP spid="4" grpId="0" animBg="1"/>
      <p:bldP spid="5" grpId="0"/>
      <p:bldP spid="6" grpId="0"/>
      <p:bldP spid="7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1454224" y="2060848"/>
            <a:ext cx="6934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zh-CN" sz="2800" b="1" dirty="0"/>
              <a:t>单位时间人口</a:t>
            </a:r>
            <a:r>
              <a:rPr lang="zh-CN" altLang="zh-CN" sz="2800" b="1" dirty="0">
                <a:solidFill>
                  <a:srgbClr val="FF0000"/>
                </a:solidFill>
              </a:rPr>
              <a:t>增长率</a:t>
            </a:r>
            <a:r>
              <a:rPr lang="zh-CN" altLang="zh-CN" sz="2800" b="1" dirty="0"/>
              <a:t>为</a:t>
            </a:r>
            <a:r>
              <a:rPr lang="zh-CN" altLang="zh-CN" sz="2800" b="1" dirty="0">
                <a:solidFill>
                  <a:srgbClr val="FF0000"/>
                </a:solidFill>
              </a:rPr>
              <a:t>常数</a:t>
            </a:r>
            <a:r>
              <a:rPr lang="en-US" altLang="zh-CN" sz="2800" b="1" i="1" dirty="0">
                <a:solidFill>
                  <a:srgbClr val="FF0000"/>
                </a:solidFill>
              </a:rPr>
              <a:t>r</a:t>
            </a:r>
            <a:r>
              <a:rPr lang="en-US" altLang="zh-CN" sz="2800" b="1" i="1" dirty="0"/>
              <a:t>.</a:t>
            </a:r>
            <a:endParaRPr lang="zh-CN" altLang="en-US" sz="2800" b="1" dirty="0"/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44511"/>
              </p:ext>
            </p:extLst>
          </p:nvPr>
        </p:nvGraphicFramePr>
        <p:xfrm>
          <a:off x="4978471" y="4832162"/>
          <a:ext cx="1868272" cy="560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74" name="Equation" r:id="rId3" imgW="838080" imgH="241200" progId="Equation.DSMT4">
                  <p:embed/>
                </p:oleObj>
              </mc:Choice>
              <mc:Fallback>
                <p:oleObj name="Equation" r:id="rId3" imgW="838080" imgH="2412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71" y="4832162"/>
                        <a:ext cx="1868272" cy="560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689174"/>
              </p:ext>
            </p:extLst>
          </p:nvPr>
        </p:nvGraphicFramePr>
        <p:xfrm>
          <a:off x="6851130" y="4797152"/>
          <a:ext cx="1537294" cy="576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75" name="公式" r:id="rId5" imgW="698400" imgH="241200" progId="Equation.3">
                  <p:embed/>
                </p:oleObj>
              </mc:Choice>
              <mc:Fallback>
                <p:oleObj name="公式" r:id="rId5" imgW="698400" imgH="24120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130" y="4797152"/>
                        <a:ext cx="1537294" cy="576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1492696" y="5474493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800" b="1" i="1" dirty="0"/>
              <a:t>t</a:t>
            </a:r>
            <a:r>
              <a:rPr lang="en-US" altLang="zh-CN" sz="2800" b="1" dirty="0"/>
              <a:t>→</a:t>
            </a:r>
            <a:r>
              <a:rPr lang="en-US" altLang="zh-CN" sz="2800" b="1" dirty="0">
                <a:latin typeface="宋体"/>
                <a:ea typeface="宋体"/>
              </a:rPr>
              <a:t>∞,</a:t>
            </a:r>
            <a:r>
              <a:rPr lang="en-US" altLang="zh-CN" sz="2800" b="1" i="1" dirty="0"/>
              <a:t> x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)</a:t>
            </a:r>
            <a:r>
              <a:rPr lang="en-US" altLang="zh-CN" sz="2800" b="1" dirty="0">
                <a:latin typeface="宋体"/>
                <a:ea typeface="宋体"/>
              </a:rPr>
              <a:t>→∞,</a:t>
            </a:r>
            <a:r>
              <a:rPr lang="zh-CN" altLang="en-US" sz="2800" b="1" dirty="0"/>
              <a:t> 按指数规律无限增长</a:t>
            </a:r>
            <a:r>
              <a:rPr lang="en-US" altLang="zh-CN" sz="2800" b="1" dirty="0"/>
              <a:t>.  </a:t>
            </a: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1479923" y="4836818"/>
            <a:ext cx="3441401" cy="5334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b="1" dirty="0">
                <a:ea typeface="楷体_GB2312" pitchFamily="49" charset="-122"/>
              </a:rPr>
              <a:t>与常用公式一致</a:t>
            </a:r>
            <a:r>
              <a:rPr lang="en-US" altLang="zh-CN" sz="2800" b="1" dirty="0">
                <a:ea typeface="楷体_GB2312" pitchFamily="49" charset="-122"/>
              </a:rPr>
              <a:t>?</a:t>
            </a:r>
            <a:endParaRPr lang="zh-CN" altLang="en-US" sz="2800" b="1" dirty="0"/>
          </a:p>
        </p:txBody>
      </p:sp>
      <p:sp>
        <p:nvSpPr>
          <p:cNvPr id="21" name="Text Box 27"/>
          <p:cNvSpPr txBox="1">
            <a:spLocks noChangeArrowheads="1"/>
          </p:cNvSpPr>
          <p:nvPr/>
        </p:nvSpPr>
        <p:spPr bwMode="auto">
          <a:xfrm>
            <a:off x="6084888" y="5734050"/>
            <a:ext cx="1008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23" name="矩形 22"/>
          <p:cNvSpPr/>
          <p:nvPr/>
        </p:nvSpPr>
        <p:spPr>
          <a:xfrm>
            <a:off x="5495113" y="692696"/>
            <a:ext cx="34275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马尔萨斯</a:t>
            </a:r>
            <a:r>
              <a:rPr lang="en-US" altLang="zh-CN" sz="2800" b="1" dirty="0">
                <a:ea typeface="楷体_GB2312" pitchFamily="49" charset="-122"/>
              </a:rPr>
              <a:t>1798</a:t>
            </a:r>
            <a:r>
              <a:rPr lang="zh-CN" altLang="en-US" sz="2800" b="1" dirty="0">
                <a:ea typeface="楷体_GB2312" pitchFamily="49" charset="-122"/>
              </a:rPr>
              <a:t>年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提出</a:t>
            </a:r>
            <a:endParaRPr lang="zh-CN" altLang="en-US" sz="2800" dirty="0"/>
          </a:p>
        </p:txBody>
      </p:sp>
      <p:sp>
        <p:nvSpPr>
          <p:cNvPr id="25" name="Text Box 28"/>
          <p:cNvSpPr txBox="1">
            <a:spLocks noChangeArrowheads="1"/>
          </p:cNvSpPr>
          <p:nvPr/>
        </p:nvSpPr>
        <p:spPr bwMode="auto">
          <a:xfrm>
            <a:off x="7812360" y="5318550"/>
            <a:ext cx="7921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4800" dirty="0">
                <a:solidFill>
                  <a:srgbClr val="FF3300"/>
                </a:solidFill>
              </a:rPr>
              <a:t>?</a:t>
            </a:r>
          </a:p>
        </p:txBody>
      </p:sp>
      <p:sp>
        <p:nvSpPr>
          <p:cNvPr id="26" name="矩形 25"/>
          <p:cNvSpPr/>
          <p:nvPr/>
        </p:nvSpPr>
        <p:spPr>
          <a:xfrm>
            <a:off x="533211" y="692696"/>
            <a:ext cx="4600940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sz="2800" b="1" dirty="0"/>
              <a:t> </a:t>
            </a:r>
            <a:r>
              <a:rPr lang="en-US" altLang="zh-CN" sz="2800" b="1" dirty="0"/>
              <a:t>2. </a:t>
            </a:r>
            <a:r>
              <a:rPr lang="zh-CN" altLang="zh-CN" sz="2800" b="1" dirty="0"/>
              <a:t>人口指数增长模型的建立</a:t>
            </a:r>
            <a:endParaRPr lang="zh-CN" altLang="en-US" sz="2800" dirty="0"/>
          </a:p>
        </p:txBody>
      </p:sp>
      <p:sp>
        <p:nvSpPr>
          <p:cNvPr id="27" name="矩形 26"/>
          <p:cNvSpPr/>
          <p:nvPr/>
        </p:nvSpPr>
        <p:spPr>
          <a:xfrm>
            <a:off x="1469804" y="1393612"/>
            <a:ext cx="64913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i="1" dirty="0"/>
              <a:t>t </a:t>
            </a:r>
            <a:r>
              <a:rPr lang="zh-CN" altLang="en-US" sz="2800" b="1" dirty="0"/>
              <a:t>时刻</a:t>
            </a:r>
            <a:r>
              <a:rPr lang="zh-CN" altLang="zh-CN" sz="2800" b="1" dirty="0"/>
              <a:t>人口</a:t>
            </a:r>
            <a:r>
              <a:rPr lang="zh-CN" altLang="en-US" sz="2800" b="1" dirty="0"/>
              <a:t>数量为</a:t>
            </a:r>
            <a:r>
              <a:rPr lang="zh-CN" altLang="zh-CN" sz="2800" b="1" dirty="0"/>
              <a:t>连续、可微函数</a:t>
            </a:r>
            <a:r>
              <a:rPr lang="en-US" altLang="zh-CN" sz="2800" b="1" i="1" dirty="0">
                <a:solidFill>
                  <a:srgbClr val="FF0000"/>
                </a:solidFill>
              </a:rPr>
              <a:t>x</a:t>
            </a: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en-US" altLang="zh-CN" sz="2800" b="1" i="1" dirty="0">
                <a:solidFill>
                  <a:srgbClr val="FF0000"/>
                </a:solidFill>
              </a:rPr>
              <a:t>t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29" name="矩形 28"/>
          <p:cNvSpPr/>
          <p:nvPr/>
        </p:nvSpPr>
        <p:spPr>
          <a:xfrm>
            <a:off x="1547664" y="3409836"/>
            <a:ext cx="46987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/>
              <a:t>单位时间内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)</a:t>
            </a:r>
            <a:r>
              <a:rPr lang="zh-CN" altLang="zh-CN" sz="2800" b="1" dirty="0"/>
              <a:t>的增量</a:t>
            </a:r>
            <a:r>
              <a:rPr lang="zh-CN" altLang="en-US" sz="2800" b="1" dirty="0"/>
              <a:t>为</a:t>
            </a:r>
            <a:r>
              <a:rPr lang="en-US" altLang="zh-CN" sz="2800" b="1" i="1" dirty="0" err="1"/>
              <a:t>rx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)</a:t>
            </a:r>
            <a:r>
              <a:rPr lang="zh-CN" altLang="zh-CN" sz="2800" b="1" dirty="0"/>
              <a:t> </a:t>
            </a:r>
            <a:endParaRPr lang="zh-CN" altLang="en-US" sz="2800" b="1" dirty="0"/>
          </a:p>
        </p:txBody>
      </p:sp>
      <p:sp>
        <p:nvSpPr>
          <p:cNvPr id="32" name="矩形 31"/>
          <p:cNvSpPr/>
          <p:nvPr/>
        </p:nvSpPr>
        <p:spPr>
          <a:xfrm>
            <a:off x="1475656" y="2708920"/>
            <a:ext cx="44037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800" b="1" dirty="0"/>
              <a:t>初始时刻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=0)</a:t>
            </a:r>
            <a:r>
              <a:rPr lang="zh-CN" altLang="zh-CN" sz="2800" b="1" dirty="0"/>
              <a:t>的人口为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0</a:t>
            </a:r>
            <a:endParaRPr lang="zh-CN" altLang="en-US" sz="2800" b="1" dirty="0"/>
          </a:p>
        </p:txBody>
      </p:sp>
      <p:sp>
        <p:nvSpPr>
          <p:cNvPr id="34" name="矩形 33"/>
          <p:cNvSpPr/>
          <p:nvPr/>
        </p:nvSpPr>
        <p:spPr>
          <a:xfrm>
            <a:off x="446583" y="1393612"/>
            <a:ext cx="906017" cy="52322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</a:rPr>
              <a:t>假设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467544" y="3409836"/>
            <a:ext cx="902811" cy="52322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2800" b="1" dirty="0"/>
              <a:t>模型</a:t>
            </a:r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2" name="组合 41"/>
          <p:cNvGrpSpPr/>
          <p:nvPr/>
        </p:nvGrpSpPr>
        <p:grpSpPr>
          <a:xfrm>
            <a:off x="5134151" y="4067360"/>
            <a:ext cx="2153673" cy="648072"/>
            <a:chOff x="5134151" y="4067360"/>
            <a:chExt cx="2153673" cy="648072"/>
          </a:xfrm>
        </p:grpSpPr>
        <p:graphicFrame>
          <p:nvGraphicFramePr>
            <p:cNvPr id="37" name="对象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3318539"/>
                </p:ext>
              </p:extLst>
            </p:nvPr>
          </p:nvGraphicFramePr>
          <p:xfrm>
            <a:off x="5317686" y="4067360"/>
            <a:ext cx="1970138" cy="6480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876" name="公式" r:id="rId7" imgW="723586" imgH="241195" progId="Equation.3">
                    <p:embed/>
                  </p:oleObj>
                </mc:Choice>
                <mc:Fallback>
                  <p:oleObj name="公式" r:id="rId7" imgW="723586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7686" y="4067360"/>
                          <a:ext cx="1970138" cy="64807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右箭头 37"/>
            <p:cNvSpPr/>
            <p:nvPr/>
          </p:nvSpPr>
          <p:spPr bwMode="auto">
            <a:xfrm>
              <a:off x="5134151" y="4120480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691680" y="3933056"/>
            <a:ext cx="2880320" cy="839790"/>
            <a:chOff x="1691680" y="3933056"/>
            <a:chExt cx="2880320" cy="839790"/>
          </a:xfrm>
        </p:grpSpPr>
        <p:graphicFrame>
          <p:nvGraphicFramePr>
            <p:cNvPr id="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8943144"/>
                </p:ext>
              </p:extLst>
            </p:nvPr>
          </p:nvGraphicFramePr>
          <p:xfrm>
            <a:off x="1872673" y="3933056"/>
            <a:ext cx="2699327" cy="839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877" name="Equation" r:id="rId9" imgW="1143000" imgH="393480" progId="Equation.DSMT4">
                    <p:embed/>
                  </p:oleObj>
                </mc:Choice>
                <mc:Fallback>
                  <p:oleObj name="Equation" r:id="rId9" imgW="1143000" imgH="393480" progId="Equation.DSMT4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673" y="3933056"/>
                          <a:ext cx="2699327" cy="83979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右箭头 38"/>
            <p:cNvSpPr/>
            <p:nvPr/>
          </p:nvSpPr>
          <p:spPr bwMode="auto">
            <a:xfrm>
              <a:off x="1691680" y="4149080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40" name="矩形 39"/>
          <p:cNvSpPr/>
          <p:nvPr/>
        </p:nvSpPr>
        <p:spPr>
          <a:xfrm>
            <a:off x="467544" y="4833851"/>
            <a:ext cx="906017" cy="52322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2800" b="1" dirty="0"/>
              <a:t>解释</a:t>
            </a:r>
          </a:p>
        </p:txBody>
      </p:sp>
    </p:spTree>
    <p:extLst>
      <p:ext uri="{BB962C8B-B14F-4D97-AF65-F5344CB8AC3E}">
        <p14:creationId xmlns:p14="http://schemas.microsoft.com/office/powerpoint/2010/main" val="249970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28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89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2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26" tmFilter="0, 0; 0.125,0.2665; 0.25,0.4; 0.375,0.465; 0.5,0.5;  0.625,0.535; 0.75,0.6; 0.875,0.7335; 1,1">
                                          <p:stCondLst>
                                            <p:cond delay="32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" tmFilter="0, 0; 0.125,0.2665; 0.25,0.4; 0.375,0.465; 0.5,0.5;  0.625,0.535; 0.75,0.6; 0.875,0.7335; 1,1">
                                          <p:stCondLst>
                                            <p:cond delay="651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" tmFilter="0, 0; 0.125,0.2665; 0.25,0.4; 0.375,0.465; 0.5,0.5;  0.625,0.535; 0.75,0.6; 0.875,0.7335; 1,1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1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" decel="50000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1">
                                          <p:stCondLst>
                                            <p:cond delay="64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" decel="50000">
                                          <p:stCondLst>
                                            <p:cond delay="65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1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" decel="50000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1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" decel="50000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utoUpdateAnimBg="0"/>
      <p:bldP spid="9" grpId="0"/>
      <p:bldP spid="23" grpId="0"/>
      <p:bldP spid="25" grpId="0"/>
      <p:bldP spid="27" grpId="0"/>
      <p:bldP spid="29" grpId="0"/>
      <p:bldP spid="32" grpId="0"/>
      <p:bldP spid="34" grpId="0" animBg="1"/>
      <p:bldP spid="35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0314" y="836712"/>
            <a:ext cx="6367449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3. </a:t>
            </a:r>
            <a:r>
              <a:rPr lang="zh-CN" altLang="zh-CN" sz="2800" b="1" dirty="0"/>
              <a:t>指数增长模型的参数估计</a:t>
            </a:r>
            <a:r>
              <a:rPr lang="en-US" altLang="zh-CN" sz="2800" b="1" dirty="0"/>
              <a:t> (</a:t>
            </a:r>
            <a:r>
              <a:rPr lang="zh-CN" altLang="zh-CN" sz="2800" b="1" dirty="0"/>
              <a:t>数据拟合</a:t>
            </a:r>
            <a:r>
              <a:rPr lang="en-US" altLang="zh-CN" sz="2800" b="1" dirty="0"/>
              <a:t>)</a:t>
            </a:r>
            <a:r>
              <a:rPr lang="zh-CN" altLang="zh-CN" sz="2800" b="1" dirty="0"/>
              <a:t> </a:t>
            </a:r>
            <a:endParaRPr lang="zh-CN" altLang="en-US" sz="28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493168"/>
              </p:ext>
            </p:extLst>
          </p:nvPr>
        </p:nvGraphicFramePr>
        <p:xfrm>
          <a:off x="894943" y="2436738"/>
          <a:ext cx="1921951" cy="632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8" name="公式" r:id="rId3" imgW="723586" imgH="241195" progId="Equation.3">
                  <p:embed/>
                </p:oleObj>
              </mc:Choice>
              <mc:Fallback>
                <p:oleObj name="公式" r:id="rId3" imgW="723586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943" y="2436738"/>
                        <a:ext cx="1921951" cy="63222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827583" y="1484784"/>
            <a:ext cx="71287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方法一    </a:t>
            </a:r>
            <a:r>
              <a:rPr lang="zh-CN" altLang="zh-CN" sz="2800" b="1" dirty="0"/>
              <a:t>直接用人口</a:t>
            </a:r>
            <a:r>
              <a:rPr lang="zh-CN" altLang="zh-CN" sz="2800" b="1" dirty="0">
                <a:solidFill>
                  <a:srgbClr val="FF0000"/>
                </a:solidFill>
              </a:rPr>
              <a:t>数据</a:t>
            </a:r>
            <a:r>
              <a:rPr lang="zh-CN" altLang="zh-CN" sz="2800" b="1" dirty="0"/>
              <a:t>和</a:t>
            </a:r>
            <a:r>
              <a:rPr lang="zh-CN" altLang="zh-CN" sz="2800" b="1" dirty="0">
                <a:solidFill>
                  <a:srgbClr val="FF0000"/>
                </a:solidFill>
              </a:rPr>
              <a:t>线性最小二乘法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97422" y="3569797"/>
            <a:ext cx="64133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1790</a:t>
            </a:r>
            <a:r>
              <a:rPr lang="zh-CN" altLang="zh-CN" sz="2800" b="1" dirty="0"/>
              <a:t>年</a:t>
            </a:r>
            <a:r>
              <a:rPr lang="en-US" altLang="zh-CN" sz="2800" b="1" dirty="0"/>
              <a:t> (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=0) </a:t>
            </a:r>
            <a:r>
              <a:rPr lang="zh-CN" altLang="zh-CN" sz="2800" b="1" dirty="0"/>
              <a:t>至</a:t>
            </a:r>
            <a:r>
              <a:rPr lang="en-US" altLang="zh-CN" sz="2800" b="1" dirty="0"/>
              <a:t>2000</a:t>
            </a:r>
            <a:r>
              <a:rPr lang="zh-CN" altLang="zh-CN" sz="2800" b="1" dirty="0"/>
              <a:t>年美国人口数据</a:t>
            </a:r>
            <a:endParaRPr lang="zh-CN" altLang="en-US" sz="2800" b="1" dirty="0"/>
          </a:p>
        </p:txBody>
      </p:sp>
      <p:grpSp>
        <p:nvGrpSpPr>
          <p:cNvPr id="22" name="组合 21"/>
          <p:cNvGrpSpPr/>
          <p:nvPr/>
        </p:nvGrpSpPr>
        <p:grpSpPr>
          <a:xfrm>
            <a:off x="3203848" y="2741937"/>
            <a:ext cx="3468053" cy="543047"/>
            <a:chOff x="3203848" y="2741937"/>
            <a:chExt cx="3468053" cy="5430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/>
                <p:cNvSpPr/>
                <p:nvPr/>
              </p:nvSpPr>
              <p:spPr>
                <a:xfrm>
                  <a:off x="3203848" y="2741937"/>
                  <a:ext cx="1656992" cy="52322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/>
                          </a:rPr>
                          <m:t>𝑦</m:t>
                        </m:r>
                        <m:r>
                          <a:rPr lang="en-US" altLang="zh-CN" sz="2800" b="0" i="1" smtClean="0">
                            <a:latin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/>
                          </a:rPr>
                          <m:t>l</m:t>
                        </m:r>
                        <m:r>
                          <a:rPr lang="en-US" altLang="zh-CN" sz="2800" b="0" i="1" smtClean="0">
                            <a:latin typeface="Cambria Math"/>
                          </a:rPr>
                          <m:t>𝑜𝑔</m:t>
                        </m:r>
                        <m:r>
                          <a:rPr lang="en-US" altLang="zh-CN" sz="2800" b="0" i="1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zh-CN" altLang="en-US" sz="2800" i="1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2" name="矩形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3848" y="2741937"/>
                  <a:ext cx="1656992" cy="52322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/>
                <p:cNvSpPr/>
                <p:nvPr/>
              </p:nvSpPr>
              <p:spPr>
                <a:xfrm>
                  <a:off x="4836334" y="2761764"/>
                  <a:ext cx="1835567" cy="52322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/>
                          </a:rPr>
                          <m:t>𝑎</m:t>
                        </m:r>
                        <m:r>
                          <a:rPr lang="en-US" altLang="zh-CN" sz="2800" b="0" i="1">
                            <a:latin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/>
                          </a:rPr>
                          <m:t>l</m:t>
                        </m:r>
                        <m:r>
                          <a:rPr lang="en-US" altLang="zh-CN" sz="2800" b="0" i="1" smtClean="0">
                            <a:latin typeface="Cambria Math"/>
                          </a:rPr>
                          <m:t>𝑜𝑔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3" name="矩形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6334" y="2761764"/>
                  <a:ext cx="1835567" cy="52322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矩形 14"/>
          <p:cNvSpPr/>
          <p:nvPr/>
        </p:nvSpPr>
        <p:spPr>
          <a:xfrm>
            <a:off x="3206759" y="4422303"/>
            <a:ext cx="32848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MATLAB</a:t>
            </a:r>
            <a:r>
              <a:rPr lang="zh-CN" altLang="zh-CN" sz="2800" b="1" dirty="0"/>
              <a:t>编程</a:t>
            </a:r>
            <a:r>
              <a:rPr lang="zh-CN" altLang="en-US" sz="2800" b="1" dirty="0"/>
              <a:t>计算</a:t>
            </a:r>
          </a:p>
        </p:txBody>
      </p:sp>
      <p:sp>
        <p:nvSpPr>
          <p:cNvPr id="16" name="矩形 15"/>
          <p:cNvSpPr/>
          <p:nvPr/>
        </p:nvSpPr>
        <p:spPr>
          <a:xfrm>
            <a:off x="827583" y="4422303"/>
            <a:ext cx="198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/>
              <a:t>最小二乘法</a:t>
            </a:r>
            <a:endParaRPr lang="zh-CN" altLang="en-US" sz="2800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2987824" y="2132856"/>
            <a:ext cx="3503749" cy="916680"/>
            <a:chOff x="2987824" y="2132856"/>
            <a:chExt cx="3503749" cy="916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3422784" y="2132856"/>
                  <a:ext cx="3068789" cy="52322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/>
                          </a:rPr>
                          <m:t>l</m:t>
                        </m:r>
                        <m:r>
                          <a:rPr lang="en-US" altLang="zh-CN" sz="2800" b="0" i="1" smtClean="0">
                            <a:latin typeface="Cambria Math"/>
                          </a:rPr>
                          <m:t>𝑜𝑔𝑥</m:t>
                        </m:r>
                        <m:r>
                          <a:rPr lang="en-US" altLang="zh-CN" sz="2800" b="0" i="1" smtClean="0">
                            <a:latin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/>
                          </a:rPr>
                          <m:t>l</m:t>
                        </m:r>
                        <m:r>
                          <a:rPr lang="en-US" altLang="zh-CN" sz="2800" b="0" i="1" smtClean="0">
                            <a:latin typeface="Cambria Math"/>
                          </a:rPr>
                          <m:t>𝑜𝑔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/>
                          </a:rPr>
                          <m:t>𝑟𝑡</m:t>
                        </m:r>
                      </m:oMath>
                    </m:oMathPara>
                  </a14:m>
                  <a:endParaRPr lang="zh-CN" altLang="en-US" sz="28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784" y="2132856"/>
                  <a:ext cx="3068789" cy="52322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右箭头 16"/>
            <p:cNvSpPr/>
            <p:nvPr/>
          </p:nvSpPr>
          <p:spPr bwMode="auto">
            <a:xfrm>
              <a:off x="2987824" y="2564904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661192" y="2492896"/>
            <a:ext cx="1799240" cy="523220"/>
            <a:chOff x="6661192" y="2492896"/>
            <a:chExt cx="1799240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/>
                <p:cNvSpPr/>
                <p:nvPr/>
              </p:nvSpPr>
              <p:spPr>
                <a:xfrm>
                  <a:off x="6865957" y="2492896"/>
                  <a:ext cx="1594475" cy="523220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/>
                        </a:rPr>
                        <m:t>𝑦</m:t>
                      </m:r>
                      <m:r>
                        <a:rPr lang="en-US" altLang="zh-CN" sz="2800" b="0" i="0" smtClean="0">
                          <a:latin typeface="Cambria Math"/>
                        </a:rPr>
                        <m:t>=</m:t>
                      </m:r>
                      <m:r>
                        <a:rPr lang="en-US" altLang="zh-CN" sz="2800" b="0" i="1">
                          <a:latin typeface="Cambria Math"/>
                        </a:rPr>
                        <m:t>𝑟𝑡</m:t>
                      </m:r>
                    </m:oMath>
                  </a14:m>
                  <a:r>
                    <a:rPr lang="en-US" altLang="zh-CN" sz="2800" dirty="0"/>
                    <a:t>+</a:t>
                  </a:r>
                  <a:r>
                    <a:rPr lang="en-US" altLang="zh-CN" sz="2800" i="1" dirty="0"/>
                    <a:t>a</a:t>
                  </a:r>
                  <a:endParaRPr lang="zh-CN" altLang="en-US" sz="2800" i="1" dirty="0"/>
                </a:p>
              </p:txBody>
            </p:sp>
          </mc:Choice>
          <mc:Fallback xmlns=""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5957" y="2492896"/>
                  <a:ext cx="1594475" cy="52322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11628" r="-4962" b="-313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右箭头 17"/>
            <p:cNvSpPr/>
            <p:nvPr/>
          </p:nvSpPr>
          <p:spPr bwMode="auto">
            <a:xfrm>
              <a:off x="6661192" y="2512320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769797" y="5229200"/>
            <a:ext cx="4504825" cy="523220"/>
            <a:chOff x="1769797" y="5229200"/>
            <a:chExt cx="4504825" cy="523220"/>
          </a:xfrm>
          <a:solidFill>
            <a:srgbClr val="FFFF00"/>
          </a:solidFill>
        </p:grpSpPr>
        <p:sp>
          <p:nvSpPr>
            <p:cNvPr id="10" name="矩形 9"/>
            <p:cNvSpPr/>
            <p:nvPr/>
          </p:nvSpPr>
          <p:spPr>
            <a:xfrm>
              <a:off x="1936575" y="5229200"/>
              <a:ext cx="4338047" cy="52322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2800" b="1" i="1" dirty="0"/>
                <a:t>r</a:t>
              </a:r>
              <a:r>
                <a:rPr lang="en-US" altLang="zh-CN" sz="2800" b="1" dirty="0"/>
                <a:t> =0.2743/10</a:t>
              </a:r>
              <a:r>
                <a:rPr lang="zh-CN" altLang="zh-CN" sz="2800" b="1" dirty="0"/>
                <a:t>年，</a:t>
              </a:r>
              <a:r>
                <a:rPr lang="en-US" altLang="zh-CN" sz="2800" b="1" i="1" dirty="0"/>
                <a:t>x</a:t>
              </a:r>
              <a:r>
                <a:rPr lang="en-US" altLang="zh-CN" sz="2800" b="1" baseline="-25000" dirty="0"/>
                <a:t>0 </a:t>
              </a:r>
              <a:r>
                <a:rPr lang="en-US" altLang="zh-CN" sz="2800" b="1" dirty="0"/>
                <a:t>=4.1884</a:t>
              </a:r>
              <a:endParaRPr lang="zh-CN" altLang="en-US" sz="2800" b="1" dirty="0"/>
            </a:p>
          </p:txBody>
        </p:sp>
        <p:sp>
          <p:nvSpPr>
            <p:cNvPr id="20" name="右箭头 19"/>
            <p:cNvSpPr/>
            <p:nvPr/>
          </p:nvSpPr>
          <p:spPr bwMode="auto">
            <a:xfrm>
              <a:off x="1769797" y="5248624"/>
              <a:ext cx="137907" cy="484632"/>
            </a:xfrm>
            <a:prstGeom prst="right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233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30314" y="692696"/>
            <a:ext cx="6367449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3. </a:t>
            </a:r>
            <a:r>
              <a:rPr lang="zh-CN" altLang="zh-CN" sz="2800" b="1" dirty="0"/>
              <a:t>指数增长模型的参数估计</a:t>
            </a:r>
            <a:r>
              <a:rPr lang="en-US" altLang="zh-CN" sz="2800" b="1" dirty="0"/>
              <a:t> (</a:t>
            </a:r>
            <a:r>
              <a:rPr lang="zh-CN" altLang="zh-CN" sz="2800" b="1" dirty="0"/>
              <a:t>数据拟合</a:t>
            </a:r>
            <a:r>
              <a:rPr lang="en-US" altLang="zh-CN" sz="2800" b="1" dirty="0"/>
              <a:t>)</a:t>
            </a:r>
            <a:r>
              <a:rPr lang="zh-CN" altLang="zh-CN" sz="2800" b="1" dirty="0"/>
              <a:t> </a:t>
            </a:r>
            <a:endParaRPr lang="zh-CN" altLang="en-US" sz="2800" b="1" dirty="0"/>
          </a:p>
        </p:txBody>
      </p:sp>
      <p:sp>
        <p:nvSpPr>
          <p:cNvPr id="5" name="矩形 4"/>
          <p:cNvSpPr/>
          <p:nvPr/>
        </p:nvSpPr>
        <p:spPr>
          <a:xfrm>
            <a:off x="683568" y="1393612"/>
            <a:ext cx="73448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方法二   </a:t>
            </a:r>
            <a:r>
              <a:rPr lang="zh-CN" altLang="zh-CN" sz="2800" b="1" dirty="0"/>
              <a:t>对人口数据作</a:t>
            </a:r>
            <a:r>
              <a:rPr lang="zh-CN" altLang="zh-CN" sz="2800" b="1" dirty="0">
                <a:solidFill>
                  <a:srgbClr val="FF0000"/>
                </a:solidFill>
              </a:rPr>
              <a:t>数值微分</a:t>
            </a:r>
            <a:r>
              <a:rPr lang="zh-CN" altLang="zh-CN" sz="2800" b="1" dirty="0"/>
              <a:t>估计增长率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164782"/>
              </p:ext>
            </p:extLst>
          </p:nvPr>
        </p:nvGraphicFramePr>
        <p:xfrm>
          <a:off x="4707558" y="2760458"/>
          <a:ext cx="4190430" cy="74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71" name="公式" r:id="rId3" imgW="2209800" imgH="393700" progId="Equation.3">
                  <p:embed/>
                </p:oleObj>
              </mc:Choice>
              <mc:Fallback>
                <p:oleObj name="公式" r:id="rId3" imgW="2209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7558" y="2760458"/>
                        <a:ext cx="4190430" cy="740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3473744"/>
              </p:ext>
            </p:extLst>
          </p:nvPr>
        </p:nvGraphicFramePr>
        <p:xfrm>
          <a:off x="801161" y="3633703"/>
          <a:ext cx="5922565" cy="731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72" name="公式" r:id="rId5" imgW="3162300" imgH="393700" progId="Equation.3">
                  <p:embed/>
                </p:oleObj>
              </mc:Choice>
              <mc:Fallback>
                <p:oleObj name="公式" r:id="rId5" imgW="3162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161" y="3633703"/>
                        <a:ext cx="5922565" cy="7314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467543" y="2077562"/>
            <a:ext cx="84969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b="1" dirty="0"/>
              <a:t>设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) </a:t>
            </a:r>
            <a:r>
              <a:rPr lang="zh-CN" altLang="zh-CN" sz="2800" b="1" dirty="0"/>
              <a:t>在</a:t>
            </a:r>
            <a:r>
              <a:rPr lang="en-US" altLang="zh-CN" sz="2800" b="1" i="1" dirty="0"/>
              <a:t>t</a:t>
            </a:r>
            <a:r>
              <a:rPr lang="en-US" altLang="zh-CN" sz="2800" b="1" baseline="-25000" dirty="0"/>
              <a:t>0</a:t>
            </a:r>
            <a:r>
              <a:rPr lang="en-US" altLang="zh-CN" sz="2800" b="1" dirty="0"/>
              <a:t>, </a:t>
            </a:r>
            <a:r>
              <a:rPr lang="en-US" altLang="zh-CN" sz="2800" b="1" i="1" dirty="0"/>
              <a:t>t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 …, </a:t>
            </a:r>
            <a:r>
              <a:rPr lang="en-US" altLang="zh-CN" sz="2800" b="1" i="1" dirty="0" err="1"/>
              <a:t>t</a:t>
            </a:r>
            <a:r>
              <a:rPr lang="en-US" altLang="zh-CN" sz="2800" b="1" i="1" baseline="-25000" dirty="0" err="1"/>
              <a:t>n</a:t>
            </a:r>
            <a:r>
              <a:rPr lang="en-US" altLang="zh-CN" sz="2800" b="1" dirty="0"/>
              <a:t>(</a:t>
            </a:r>
            <a:r>
              <a:rPr lang="zh-CN" altLang="zh-CN" sz="2800" b="1" dirty="0"/>
              <a:t>等间距</a:t>
            </a:r>
            <a:r>
              <a:rPr lang="zh-CN" altLang="zh-CN" b="1" dirty="0"/>
              <a:t>△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)</a:t>
            </a:r>
            <a:r>
              <a:rPr lang="zh-CN" altLang="zh-CN" sz="2800" b="1" dirty="0"/>
              <a:t>的</a:t>
            </a:r>
            <a:r>
              <a:rPr lang="zh-CN" altLang="en-US" sz="2800" b="1" dirty="0"/>
              <a:t>函数</a:t>
            </a:r>
            <a:r>
              <a:rPr lang="zh-CN" altLang="zh-CN" sz="2800" b="1" dirty="0"/>
              <a:t>值为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0</a:t>
            </a:r>
            <a:r>
              <a:rPr lang="en-US" altLang="zh-CN" sz="2800" b="1" dirty="0"/>
              <a:t>, 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 …, </a:t>
            </a:r>
            <a:r>
              <a:rPr lang="en-US" altLang="zh-CN" sz="2800" b="1" i="1" dirty="0" err="1"/>
              <a:t>x</a:t>
            </a:r>
            <a:r>
              <a:rPr lang="en-US" altLang="zh-CN" sz="2800" b="1" i="1" baseline="-25000" dirty="0" err="1"/>
              <a:t>n</a:t>
            </a:r>
            <a:endParaRPr lang="zh-CN" altLang="en-US" sz="2800" b="1" dirty="0"/>
          </a:p>
        </p:txBody>
      </p:sp>
      <p:sp>
        <p:nvSpPr>
          <p:cNvPr id="11" name="矩形 10"/>
          <p:cNvSpPr/>
          <p:nvPr/>
        </p:nvSpPr>
        <p:spPr>
          <a:xfrm>
            <a:off x="6883300" y="3501008"/>
            <a:ext cx="1627369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zh-CN" sz="2800" b="1" dirty="0"/>
              <a:t>数值微分</a:t>
            </a:r>
            <a:endParaRPr lang="en-US" altLang="zh-CN" sz="2800" b="1" dirty="0"/>
          </a:p>
          <a:p>
            <a:r>
              <a:rPr lang="zh-CN" altLang="zh-CN" sz="2800" b="1" dirty="0"/>
              <a:t>中点公式</a:t>
            </a:r>
            <a:endParaRPr lang="zh-CN" altLang="en-US" sz="2800" b="1" dirty="0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716015" y="5635086"/>
            <a:ext cx="2791807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0</a:t>
            </a:r>
            <a:r>
              <a:rPr lang="en-US" altLang="zh-CN" sz="2800" b="1" dirty="0"/>
              <a:t>=3.9 (</a:t>
            </a:r>
            <a:r>
              <a:rPr lang="zh-CN" altLang="zh-CN" sz="2800" b="1" dirty="0"/>
              <a:t>原始数据</a:t>
            </a:r>
            <a:r>
              <a:rPr lang="en-US" altLang="zh-CN" sz="2800" b="1" dirty="0"/>
              <a:t>)</a:t>
            </a:r>
            <a:endParaRPr lang="zh-CN" altLang="en-US" sz="2800" b="1" dirty="0"/>
          </a:p>
        </p:txBody>
      </p:sp>
      <p:sp>
        <p:nvSpPr>
          <p:cNvPr id="18" name="矩形 17"/>
          <p:cNvSpPr/>
          <p:nvPr/>
        </p:nvSpPr>
        <p:spPr>
          <a:xfrm>
            <a:off x="4067944" y="4777988"/>
            <a:ext cx="7906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/>
              <a:t>≈ </a:t>
            </a:r>
            <a:r>
              <a:rPr lang="en-US" altLang="zh-CN" sz="2800" i="1" dirty="0" err="1"/>
              <a:t>r</a:t>
            </a:r>
            <a:r>
              <a:rPr lang="en-US" altLang="zh-CN" sz="2800" i="1" baseline="-25000" dirty="0" err="1"/>
              <a:t>k</a:t>
            </a:r>
            <a:r>
              <a:rPr lang="en-US" altLang="zh-CN" sz="2800" i="1" baseline="-25000" dirty="0"/>
              <a:t> </a:t>
            </a:r>
            <a:endParaRPr lang="zh-CN" altLang="en-US" sz="280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2267744" y="4786481"/>
            <a:ext cx="1844422" cy="514727"/>
            <a:chOff x="801161" y="4498449"/>
            <a:chExt cx="1844422" cy="514727"/>
          </a:xfrm>
        </p:grpSpPr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3343092"/>
                </p:ext>
              </p:extLst>
            </p:nvPr>
          </p:nvGraphicFramePr>
          <p:xfrm>
            <a:off x="986399" y="4509120"/>
            <a:ext cx="1659184" cy="504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73" name="公式" r:id="rId7" imgW="749300" imgH="228600" progId="Equation.3">
                    <p:embed/>
                  </p:oleObj>
                </mc:Choice>
                <mc:Fallback>
                  <p:oleObj name="公式" r:id="rId7" imgW="7493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6399" y="4509120"/>
                          <a:ext cx="1659184" cy="50405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右箭头 18"/>
            <p:cNvSpPr/>
            <p:nvPr/>
          </p:nvSpPr>
          <p:spPr bwMode="auto">
            <a:xfrm>
              <a:off x="801161" y="4498449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63254" y="2838127"/>
            <a:ext cx="4052761" cy="523220"/>
            <a:chOff x="663254" y="2838127"/>
            <a:chExt cx="4052761" cy="523220"/>
          </a:xfrm>
        </p:grpSpPr>
        <p:sp>
          <p:nvSpPr>
            <p:cNvPr id="12" name="矩形 11"/>
            <p:cNvSpPr/>
            <p:nvPr/>
          </p:nvSpPr>
          <p:spPr>
            <a:xfrm>
              <a:off x="801161" y="2838127"/>
              <a:ext cx="391485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solidFill>
                    <a:srgbClr val="000000"/>
                  </a:solidFill>
                </a:rPr>
                <a:t>x</a:t>
              </a:r>
              <a:r>
                <a:rPr lang="en-US" altLang="zh-CN" sz="2800" b="1" dirty="0">
                  <a:solidFill>
                    <a:srgbClr val="000000"/>
                  </a:solidFill>
                </a:rPr>
                <a:t>(</a:t>
              </a:r>
              <a:r>
                <a:rPr lang="en-US" altLang="zh-CN" sz="2800" b="1" i="1" dirty="0">
                  <a:solidFill>
                    <a:srgbClr val="000000"/>
                  </a:solidFill>
                </a:rPr>
                <a:t>t</a:t>
              </a:r>
              <a:r>
                <a:rPr lang="en-US" altLang="zh-CN" sz="2800" b="1" dirty="0">
                  <a:solidFill>
                    <a:srgbClr val="000000"/>
                  </a:solidFill>
                </a:rPr>
                <a:t>)</a:t>
              </a:r>
              <a:r>
                <a:rPr lang="zh-CN" altLang="zh-CN" sz="2800" b="1" dirty="0"/>
                <a:t>在各点的导数近似值</a:t>
              </a:r>
              <a:endParaRPr lang="zh-CN" altLang="en-US" sz="2800" b="1" dirty="0"/>
            </a:p>
          </p:txBody>
        </p:sp>
        <p:sp>
          <p:nvSpPr>
            <p:cNvPr id="20" name="右箭头 19"/>
            <p:cNvSpPr/>
            <p:nvPr/>
          </p:nvSpPr>
          <p:spPr bwMode="auto">
            <a:xfrm>
              <a:off x="663254" y="2876715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482952" y="5615662"/>
            <a:ext cx="2551272" cy="523220"/>
            <a:chOff x="1481765" y="5373216"/>
            <a:chExt cx="2551272" cy="523220"/>
          </a:xfrm>
        </p:grpSpPr>
        <p:sp>
          <p:nvSpPr>
            <p:cNvPr id="16" name="矩形 15"/>
            <p:cNvSpPr/>
            <p:nvPr/>
          </p:nvSpPr>
          <p:spPr>
            <a:xfrm>
              <a:off x="1612181" y="5373216"/>
              <a:ext cx="2420856" cy="523220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800" b="1" i="1" dirty="0"/>
                <a:t>r</a:t>
              </a:r>
              <a:r>
                <a:rPr lang="en-US" altLang="zh-CN" sz="2800" b="1" dirty="0"/>
                <a:t> =0.2052/10</a:t>
              </a:r>
              <a:r>
                <a:rPr lang="zh-CN" altLang="zh-CN" sz="2800" b="1" dirty="0"/>
                <a:t>年</a:t>
              </a:r>
              <a:endParaRPr lang="zh-CN" altLang="en-US" sz="2800" b="1" dirty="0"/>
            </a:p>
          </p:txBody>
        </p:sp>
        <p:sp>
          <p:nvSpPr>
            <p:cNvPr id="21" name="右箭头 20"/>
            <p:cNvSpPr/>
            <p:nvPr/>
          </p:nvSpPr>
          <p:spPr bwMode="auto">
            <a:xfrm>
              <a:off x="1481765" y="5392640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75643" y="4470382"/>
                <a:ext cx="2321341" cy="1100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𝑟</m:t>
                      </m:r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/>
                            </a:rPr>
                            <m:t>𝑟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643" y="4470382"/>
                <a:ext cx="2321341" cy="110087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24695" y="4744285"/>
                <a:ext cx="134761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altLang="zh-CN" sz="28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/>
                        </a:rPr>
                        <m:t>𝑟𝑥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95" y="4744285"/>
                <a:ext cx="1347613" cy="52322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678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 animBg="1"/>
      <p:bldP spid="17" grpId="0" animBg="1"/>
      <p:bldP spid="18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3568" y="764704"/>
            <a:ext cx="3789820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4. </a:t>
            </a:r>
            <a:r>
              <a:rPr lang="zh-CN" altLang="zh-CN" sz="2800" b="1" dirty="0"/>
              <a:t>改进的指数增长模型</a:t>
            </a:r>
          </a:p>
        </p:txBody>
      </p:sp>
      <p:pic>
        <p:nvPicPr>
          <p:cNvPr id="1126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320" y="1251981"/>
            <a:ext cx="3834680" cy="2834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75870" y="1412776"/>
            <a:ext cx="530424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/>
              <a:t>修改</a:t>
            </a:r>
            <a:r>
              <a:rPr lang="zh-CN" altLang="zh-CN" sz="2800" b="1" dirty="0"/>
              <a:t>人口增长率为常数的假设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690975"/>
              </p:ext>
            </p:extLst>
          </p:nvPr>
        </p:nvGraphicFramePr>
        <p:xfrm>
          <a:off x="763805" y="2780928"/>
          <a:ext cx="4718729" cy="875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38" name="公式" r:id="rId4" imgW="2108200" imgH="393700" progId="Equation.3">
                  <p:embed/>
                </p:oleObj>
              </mc:Choice>
              <mc:Fallback>
                <p:oleObj name="公式" r:id="rId4" imgW="2108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805" y="2780928"/>
                        <a:ext cx="4718729" cy="8754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27584" y="4725144"/>
            <a:ext cx="27306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10</a:t>
            </a:r>
            <a:r>
              <a:rPr lang="zh-CN" altLang="zh-CN" sz="2800" b="1" dirty="0"/>
              <a:t>年增长率数据</a:t>
            </a:r>
            <a:endParaRPr lang="zh-CN" altLang="en-US" sz="2800" b="1" dirty="0"/>
          </a:p>
        </p:txBody>
      </p:sp>
      <p:sp>
        <p:nvSpPr>
          <p:cNvPr id="15" name="矩形 14"/>
          <p:cNvSpPr/>
          <p:nvPr/>
        </p:nvSpPr>
        <p:spPr>
          <a:xfrm>
            <a:off x="5260588" y="5351563"/>
            <a:ext cx="2791807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0</a:t>
            </a:r>
            <a:r>
              <a:rPr lang="en-US" altLang="zh-CN" sz="2800" b="1" dirty="0"/>
              <a:t>=3.9 (</a:t>
            </a:r>
            <a:r>
              <a:rPr lang="zh-CN" altLang="zh-CN" sz="2800" b="1" dirty="0"/>
              <a:t>原始数据</a:t>
            </a:r>
            <a:r>
              <a:rPr lang="en-US" altLang="zh-CN" sz="2800" b="1" dirty="0"/>
              <a:t>)</a:t>
            </a:r>
            <a:endParaRPr lang="zh-CN" altLang="en-US" sz="2800" b="1" dirty="0"/>
          </a:p>
        </p:txBody>
      </p:sp>
      <p:sp>
        <p:nvSpPr>
          <p:cNvPr id="14" name="矩形 13"/>
          <p:cNvSpPr/>
          <p:nvPr/>
        </p:nvSpPr>
        <p:spPr>
          <a:xfrm>
            <a:off x="3960232" y="4725144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/>
              <a:t>线性</a:t>
            </a:r>
            <a:r>
              <a:rPr lang="zh-CN" altLang="zh-CN" sz="2800" b="1" dirty="0"/>
              <a:t>最小二乘法</a:t>
            </a:r>
            <a:endParaRPr lang="zh-CN" altLang="en-US" sz="2800" b="1" dirty="0"/>
          </a:p>
        </p:txBody>
      </p:sp>
      <p:sp>
        <p:nvSpPr>
          <p:cNvPr id="16" name="矩形 15"/>
          <p:cNvSpPr/>
          <p:nvPr/>
        </p:nvSpPr>
        <p:spPr>
          <a:xfrm>
            <a:off x="5713282" y="899435"/>
            <a:ext cx="30460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17780" algn="ctr">
              <a:spcAft>
                <a:spcPts val="0"/>
              </a:spcAft>
            </a:pPr>
            <a:r>
              <a:rPr lang="zh-CN" altLang="zh-CN" b="1" dirty="0"/>
              <a:t>美国人口</a:t>
            </a:r>
            <a:r>
              <a:rPr lang="zh-CN" altLang="zh-CN" b="1" kern="100" dirty="0"/>
              <a:t>增长率</a:t>
            </a:r>
            <a:r>
              <a:rPr lang="en-US" altLang="zh-CN" b="1" kern="100" dirty="0"/>
              <a:t>/10</a:t>
            </a:r>
            <a:r>
              <a:rPr lang="zh-CN" altLang="zh-CN" b="1" kern="100" dirty="0"/>
              <a:t>年</a:t>
            </a:r>
            <a:endParaRPr lang="zh-CN" altLang="zh-CN" b="1" kern="100" dirty="0">
              <a:latin typeface="Times New Roman"/>
              <a:ea typeface="宋体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5297336" y="2066987"/>
            <a:ext cx="1858201" cy="2414420"/>
            <a:chOff x="5297336" y="2066987"/>
            <a:chExt cx="1858201" cy="2414420"/>
          </a:xfrm>
        </p:grpSpPr>
        <p:sp>
          <p:nvSpPr>
            <p:cNvPr id="17" name="矩形 16"/>
            <p:cNvSpPr/>
            <p:nvPr/>
          </p:nvSpPr>
          <p:spPr>
            <a:xfrm>
              <a:off x="5297336" y="4019742"/>
              <a:ext cx="1858201" cy="46166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1800</a:t>
              </a:r>
              <a:r>
                <a:rPr lang="zh-CN" altLang="en-US" dirty="0"/>
                <a:t>年</a:t>
              </a:r>
              <a:r>
                <a:rPr lang="en-US" altLang="zh-CN" i="1" dirty="0"/>
                <a:t>r≈ </a:t>
              </a:r>
              <a:r>
                <a:rPr lang="en-US" altLang="zh-CN" dirty="0"/>
                <a:t>0.3</a:t>
              </a:r>
              <a:endParaRPr lang="zh-CN" altLang="en-US" dirty="0"/>
            </a:p>
          </p:txBody>
        </p:sp>
        <p:cxnSp>
          <p:nvCxnSpPr>
            <p:cNvPr id="21" name="直接箭头连接符 20"/>
            <p:cNvCxnSpPr/>
            <p:nvPr/>
          </p:nvCxnSpPr>
          <p:spPr bwMode="auto">
            <a:xfrm>
              <a:off x="5940152" y="2066987"/>
              <a:ext cx="0" cy="195275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0" name="组合 29"/>
          <p:cNvGrpSpPr/>
          <p:nvPr/>
        </p:nvGrpSpPr>
        <p:grpSpPr>
          <a:xfrm>
            <a:off x="7236296" y="3507432"/>
            <a:ext cx="1858201" cy="959297"/>
            <a:chOff x="7236296" y="3507432"/>
            <a:chExt cx="1858201" cy="959297"/>
          </a:xfrm>
        </p:grpSpPr>
        <p:sp>
          <p:nvSpPr>
            <p:cNvPr id="20" name="矩形 19"/>
            <p:cNvSpPr/>
            <p:nvPr/>
          </p:nvSpPr>
          <p:spPr>
            <a:xfrm>
              <a:off x="7236296" y="4005064"/>
              <a:ext cx="1858201" cy="461665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2000</a:t>
              </a:r>
              <a:r>
                <a:rPr lang="zh-CN" altLang="en-US" dirty="0"/>
                <a:t>年</a:t>
              </a:r>
              <a:r>
                <a:rPr lang="en-US" altLang="zh-CN" i="1" dirty="0"/>
                <a:t>r≈ </a:t>
              </a:r>
              <a:r>
                <a:rPr lang="en-US" altLang="zh-CN" dirty="0"/>
                <a:t>0.1</a:t>
              </a:r>
              <a:endParaRPr lang="zh-CN" altLang="en-US" dirty="0"/>
            </a:p>
          </p:txBody>
        </p:sp>
        <p:cxnSp>
          <p:nvCxnSpPr>
            <p:cNvPr id="23" name="直接箭头连接符 22"/>
            <p:cNvCxnSpPr/>
            <p:nvPr/>
          </p:nvCxnSpPr>
          <p:spPr bwMode="auto">
            <a:xfrm>
              <a:off x="8262503" y="3507432"/>
              <a:ext cx="517" cy="51231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2" name="组合 31"/>
          <p:cNvGrpSpPr/>
          <p:nvPr/>
        </p:nvGrpSpPr>
        <p:grpSpPr>
          <a:xfrm>
            <a:off x="1406702" y="3737087"/>
            <a:ext cx="3031456" cy="698443"/>
            <a:chOff x="1337749" y="3887178"/>
            <a:chExt cx="3031456" cy="698443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5899098"/>
                </p:ext>
              </p:extLst>
            </p:nvPr>
          </p:nvGraphicFramePr>
          <p:xfrm>
            <a:off x="1475656" y="3887178"/>
            <a:ext cx="2893549" cy="698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39" name="公式" r:id="rId6" imgW="1104421" imgH="266584" progId="Equation.3">
                    <p:embed/>
                  </p:oleObj>
                </mc:Choice>
                <mc:Fallback>
                  <p:oleObj name="公式" r:id="rId6" imgW="1104421" imgH="2665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656" y="3887178"/>
                          <a:ext cx="2893549" cy="698443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右箭头 25"/>
            <p:cNvSpPr/>
            <p:nvPr/>
          </p:nvSpPr>
          <p:spPr bwMode="auto">
            <a:xfrm>
              <a:off x="1337749" y="4077072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115616" y="5351563"/>
            <a:ext cx="3600400" cy="576064"/>
            <a:chOff x="1115616" y="5517232"/>
            <a:chExt cx="3600400" cy="576064"/>
          </a:xfrm>
        </p:grpSpPr>
        <p:sp>
          <p:nvSpPr>
            <p:cNvPr id="13" name="矩形 12"/>
            <p:cNvSpPr/>
            <p:nvPr/>
          </p:nvSpPr>
          <p:spPr>
            <a:xfrm>
              <a:off x="1287385" y="5517232"/>
              <a:ext cx="3428631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800" b="1" i="1" dirty="0"/>
                <a:t>r</a:t>
              </a:r>
              <a:r>
                <a:rPr lang="en-US" altLang="zh-CN" sz="2800" b="1" baseline="-25000" dirty="0"/>
                <a:t>0</a:t>
              </a:r>
              <a:r>
                <a:rPr lang="en-US" altLang="zh-CN" sz="2800" b="1" dirty="0"/>
                <a:t>=0.3252</a:t>
              </a:r>
              <a:r>
                <a:rPr lang="zh-CN" altLang="zh-CN" sz="2800" b="1" dirty="0"/>
                <a:t>，</a:t>
              </a:r>
              <a:r>
                <a:rPr lang="en-US" altLang="zh-CN" sz="2800" b="1" i="1" dirty="0"/>
                <a:t>r</a:t>
              </a:r>
              <a:r>
                <a:rPr lang="en-US" altLang="zh-CN" sz="2800" b="1" baseline="-25000" dirty="0"/>
                <a:t>1</a:t>
              </a:r>
              <a:r>
                <a:rPr lang="en-US" altLang="zh-CN" sz="2800" b="1" dirty="0"/>
                <a:t>=0.0114</a:t>
              </a:r>
              <a:endParaRPr lang="zh-CN" altLang="en-US" sz="2800" b="1" dirty="0"/>
            </a:p>
          </p:txBody>
        </p:sp>
        <p:sp>
          <p:nvSpPr>
            <p:cNvPr id="27" name="右箭头 26"/>
            <p:cNvSpPr/>
            <p:nvPr/>
          </p:nvSpPr>
          <p:spPr bwMode="auto">
            <a:xfrm>
              <a:off x="1115616" y="5608664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865253" y="2150469"/>
            <a:ext cx="1819778" cy="523220"/>
            <a:chOff x="3497989" y="2150469"/>
            <a:chExt cx="1819778" cy="523220"/>
          </a:xfrm>
        </p:grpSpPr>
        <p:sp>
          <p:nvSpPr>
            <p:cNvPr id="7" name="矩形 6"/>
            <p:cNvSpPr/>
            <p:nvPr/>
          </p:nvSpPr>
          <p:spPr>
            <a:xfrm>
              <a:off x="3635896" y="2150469"/>
              <a:ext cx="1681871" cy="523220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800" i="1" dirty="0"/>
                <a:t>r</a:t>
              </a:r>
              <a:r>
                <a:rPr lang="en-US" altLang="zh-CN" sz="2800" dirty="0"/>
                <a:t>(</a:t>
              </a:r>
              <a:r>
                <a:rPr lang="en-US" altLang="zh-CN" sz="2800" i="1" dirty="0"/>
                <a:t>t</a:t>
              </a:r>
              <a:r>
                <a:rPr lang="en-US" altLang="zh-CN" sz="2800" dirty="0"/>
                <a:t>)=</a:t>
              </a:r>
              <a:r>
                <a:rPr lang="en-US" altLang="zh-CN" sz="2800" i="1" dirty="0"/>
                <a:t>r</a:t>
              </a:r>
              <a:r>
                <a:rPr lang="en-US" altLang="zh-CN" sz="2800" baseline="-25000" dirty="0"/>
                <a:t>0</a:t>
              </a:r>
              <a:r>
                <a:rPr lang="en-US" altLang="zh-CN" sz="2800" dirty="0">
                  <a:sym typeface="Symbol"/>
                </a:rPr>
                <a:t></a:t>
              </a:r>
              <a:r>
                <a:rPr lang="en-US" altLang="zh-CN" sz="2800" i="1" dirty="0"/>
                <a:t>r</a:t>
              </a:r>
              <a:r>
                <a:rPr lang="en-US" altLang="zh-CN" sz="2800" baseline="-25000" dirty="0"/>
                <a:t>1</a:t>
              </a:r>
              <a:r>
                <a:rPr lang="en-US" altLang="zh-CN" sz="2800" i="1" dirty="0"/>
                <a:t>t</a:t>
              </a:r>
              <a:endParaRPr lang="zh-CN" altLang="en-US" sz="2800" dirty="0"/>
            </a:p>
          </p:txBody>
        </p:sp>
        <p:sp>
          <p:nvSpPr>
            <p:cNvPr id="28" name="右箭头 27"/>
            <p:cNvSpPr/>
            <p:nvPr/>
          </p:nvSpPr>
          <p:spPr bwMode="auto">
            <a:xfrm>
              <a:off x="3497989" y="2189057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676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11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5" grpId="0" animBg="1"/>
      <p:bldP spid="14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759142"/>
              </p:ext>
            </p:extLst>
          </p:nvPr>
        </p:nvGraphicFramePr>
        <p:xfrm>
          <a:off x="467544" y="1404919"/>
          <a:ext cx="8208912" cy="42672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2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7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年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实际人口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（百万）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指数增长模型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zh-CN" alt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估计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方法一）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指数增长模型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zh-CN" alt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估计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方法二）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改进的指数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增长模型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8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1790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3.9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6.0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3.9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3.9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8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1800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5.3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7.4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4.8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5.4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8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1810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7.2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9.1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5.9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7.3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8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1820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9.6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11.1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7.2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9.8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8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1830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12.9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13.6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8.9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13.1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8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8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1960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179.3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187.6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127.6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188.3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58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1970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203.2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229.6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156.7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213.4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58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1980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226.5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281.0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192.4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239.1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58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1990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248.7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343.8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236.2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264.8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58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2000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281.4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420.8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290.0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290.0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58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误差平方和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34742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22048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1133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755576" y="673532"/>
            <a:ext cx="7007046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5. </a:t>
            </a:r>
            <a:r>
              <a:rPr lang="zh-CN" altLang="zh-CN" sz="2800" b="1" dirty="0"/>
              <a:t>美国人口</a:t>
            </a:r>
            <a:r>
              <a:rPr lang="zh-CN" altLang="en-US" sz="2800" b="1" dirty="0"/>
              <a:t>用</a:t>
            </a:r>
            <a:r>
              <a:rPr lang="zh-CN" altLang="zh-CN" sz="2800" b="1" dirty="0"/>
              <a:t>指数增长模型计算</a:t>
            </a:r>
            <a:r>
              <a:rPr lang="zh-CN" altLang="en-US" sz="2800" b="1" dirty="0"/>
              <a:t>结果</a:t>
            </a:r>
            <a:r>
              <a:rPr lang="zh-CN" altLang="zh-CN" sz="2800" b="1" dirty="0"/>
              <a:t>的</a:t>
            </a:r>
            <a:r>
              <a:rPr lang="zh-CN" altLang="en-US" sz="2800" b="1" dirty="0"/>
              <a:t>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7944" y="5775647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1960</a:t>
            </a:r>
            <a:r>
              <a:rPr lang="zh-CN" altLang="en-US" b="1" dirty="0"/>
              <a:t>年以后</a:t>
            </a:r>
            <a:r>
              <a:rPr lang="en-US" altLang="zh-CN" b="1" dirty="0"/>
              <a:t>3</a:t>
            </a:r>
            <a:r>
              <a:rPr lang="zh-CN" altLang="en-US" b="1" dirty="0"/>
              <a:t>个结果明显不同</a:t>
            </a:r>
          </a:p>
        </p:txBody>
      </p:sp>
    </p:spTree>
    <p:extLst>
      <p:ext uri="{BB962C8B-B14F-4D97-AF65-F5344CB8AC3E}">
        <p14:creationId xmlns:p14="http://schemas.microsoft.com/office/powerpoint/2010/main" val="255212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95536" y="1484784"/>
            <a:ext cx="5328592" cy="2322113"/>
            <a:chOff x="1940" y="11747"/>
            <a:chExt cx="8060" cy="2780"/>
          </a:xfrm>
        </p:grpSpPr>
        <p:pic>
          <p:nvPicPr>
            <p:cNvPr id="11469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0" y="11787"/>
              <a:ext cx="4120" cy="2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69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0" y="11747"/>
              <a:ext cx="3940" cy="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469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556792"/>
            <a:ext cx="2887216" cy="227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755576" y="764704"/>
            <a:ext cx="7007046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5. </a:t>
            </a:r>
            <a:r>
              <a:rPr lang="zh-CN" altLang="zh-CN" sz="2800" b="1" dirty="0"/>
              <a:t>美国人口</a:t>
            </a:r>
            <a:r>
              <a:rPr lang="zh-CN" altLang="en-US" sz="2800" b="1" dirty="0"/>
              <a:t>用</a:t>
            </a:r>
            <a:r>
              <a:rPr lang="zh-CN" altLang="zh-CN" sz="2800" b="1" dirty="0"/>
              <a:t>指数增长模型计算</a:t>
            </a:r>
            <a:r>
              <a:rPr lang="zh-CN" altLang="en-US" sz="2800" b="1" dirty="0"/>
              <a:t>结果</a:t>
            </a:r>
            <a:r>
              <a:rPr lang="zh-CN" altLang="zh-CN" sz="2800" b="1" dirty="0"/>
              <a:t>的</a:t>
            </a:r>
            <a:r>
              <a:rPr lang="zh-CN" altLang="en-US" sz="2800" b="1" dirty="0"/>
              <a:t>比较</a:t>
            </a:r>
          </a:p>
        </p:txBody>
      </p:sp>
      <p:sp>
        <p:nvSpPr>
          <p:cNvPr id="6" name="矩形 5"/>
          <p:cNvSpPr/>
          <p:nvPr/>
        </p:nvSpPr>
        <p:spPr>
          <a:xfrm>
            <a:off x="5992574" y="3789040"/>
            <a:ext cx="235032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zh-CN" b="1" dirty="0"/>
              <a:t>改进的指数模型</a:t>
            </a:r>
          </a:p>
        </p:txBody>
      </p:sp>
      <p:sp>
        <p:nvSpPr>
          <p:cNvPr id="11" name="矩形 10"/>
          <p:cNvSpPr/>
          <p:nvPr/>
        </p:nvSpPr>
        <p:spPr>
          <a:xfrm>
            <a:off x="3084476" y="3789040"/>
            <a:ext cx="25555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zh-CN" b="1" dirty="0"/>
              <a:t>指数模型</a:t>
            </a:r>
            <a:r>
              <a:rPr lang="en-US" altLang="zh-CN" b="1" dirty="0"/>
              <a:t>(</a:t>
            </a:r>
            <a:r>
              <a:rPr lang="zh-CN" altLang="en-US" b="1" dirty="0"/>
              <a:t>方法二</a:t>
            </a:r>
            <a:r>
              <a:rPr lang="en-US" altLang="zh-CN" b="1" dirty="0"/>
              <a:t>)</a:t>
            </a:r>
            <a:endParaRPr lang="zh-CN" altLang="zh-CN" b="1" dirty="0"/>
          </a:p>
        </p:txBody>
      </p:sp>
      <p:sp>
        <p:nvSpPr>
          <p:cNvPr id="12" name="矩形 11"/>
          <p:cNvSpPr/>
          <p:nvPr/>
        </p:nvSpPr>
        <p:spPr>
          <a:xfrm>
            <a:off x="395536" y="3789040"/>
            <a:ext cx="25555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zh-CN" b="1" dirty="0"/>
              <a:t>指数模型</a:t>
            </a:r>
            <a:r>
              <a:rPr lang="en-US" altLang="zh-CN" b="1" dirty="0"/>
              <a:t>(</a:t>
            </a:r>
            <a:r>
              <a:rPr lang="zh-CN" altLang="en-US" b="1" dirty="0"/>
              <a:t>方法一</a:t>
            </a:r>
            <a:r>
              <a:rPr lang="en-US" altLang="zh-CN" b="1" dirty="0"/>
              <a:t>)</a:t>
            </a:r>
            <a:endParaRPr lang="zh-CN" altLang="zh-CN" b="1" dirty="0"/>
          </a:p>
        </p:txBody>
      </p:sp>
      <p:sp>
        <p:nvSpPr>
          <p:cNvPr id="7" name="矩形 6"/>
          <p:cNvSpPr/>
          <p:nvPr/>
        </p:nvSpPr>
        <p:spPr>
          <a:xfrm>
            <a:off x="599560" y="5244727"/>
            <a:ext cx="7594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200</a:t>
            </a:r>
            <a:r>
              <a:rPr lang="zh-CN" altLang="zh-CN" sz="2800" b="1" dirty="0"/>
              <a:t>多年时间内假设</a:t>
            </a:r>
            <a:r>
              <a:rPr lang="zh-CN" altLang="zh-CN" sz="2800" b="1" dirty="0">
                <a:solidFill>
                  <a:srgbClr val="FF0000"/>
                </a:solidFill>
              </a:rPr>
              <a:t>增长率为常数</a:t>
            </a:r>
            <a:r>
              <a:rPr lang="zh-CN" altLang="zh-CN" sz="2800" b="1" dirty="0"/>
              <a:t>违背实际情况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631305" y="4500442"/>
            <a:ext cx="79891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b="1" dirty="0"/>
              <a:t>用指数模型计算的美国人口</a:t>
            </a:r>
            <a:r>
              <a:rPr lang="zh-CN" altLang="zh-CN" sz="2800" b="1" dirty="0">
                <a:solidFill>
                  <a:srgbClr val="FF0000"/>
                </a:solidFill>
              </a:rPr>
              <a:t>与实际数据相差很大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45560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0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8042275" y="476250"/>
          <a:ext cx="79692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9" name="Clip" r:id="rId4" imgW="3848040" imgH="5478120" progId="MS_ClipArt_Gallery.2">
                  <p:embed/>
                </p:oleObj>
              </mc:Choice>
              <mc:Fallback>
                <p:oleObj name="Clip" r:id="rId4" imgW="3848040" imgH="547812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2275" y="476250"/>
                        <a:ext cx="796925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8" name="Rectangle 4"/>
          <p:cNvSpPr>
            <a:spLocks noChangeArrowheads="1"/>
          </p:cNvSpPr>
          <p:nvPr/>
        </p:nvSpPr>
        <p:spPr bwMode="auto">
          <a:xfrm>
            <a:off x="228600" y="1371600"/>
            <a:ext cx="77279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buFontTx/>
              <a:buChar char="•"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与</a:t>
            </a:r>
            <a:r>
              <a:rPr lang="en-US" altLang="zh-CN" sz="2800" b="1" dirty="0">
                <a:solidFill>
                  <a:srgbClr val="FF0000"/>
                </a:solidFill>
              </a:rPr>
              <a:t>19</a:t>
            </a:r>
            <a:r>
              <a:rPr lang="zh-CN" altLang="en-US" sz="2800" b="1" dirty="0">
                <a:solidFill>
                  <a:srgbClr val="FF0000"/>
                </a:solidFill>
              </a:rPr>
              <a:t>世纪以前</a:t>
            </a:r>
            <a:r>
              <a:rPr lang="zh-CN" altLang="en-US" sz="2800" b="1" dirty="0"/>
              <a:t>欧洲一些地区人口统计数据吻合</a:t>
            </a:r>
            <a:r>
              <a:rPr lang="en-US" altLang="zh-CN" sz="2800" b="1" dirty="0"/>
              <a:t>.</a:t>
            </a:r>
          </a:p>
        </p:txBody>
      </p:sp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228600" y="1988840"/>
            <a:ext cx="7543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Tx/>
              <a:buChar char="•"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适用于</a:t>
            </a:r>
            <a:r>
              <a:rPr lang="en-US" altLang="zh-CN" sz="2800" b="1" dirty="0"/>
              <a:t>19</a:t>
            </a:r>
            <a:r>
              <a:rPr lang="zh-CN" altLang="en-US" sz="2800" b="1" dirty="0"/>
              <a:t>世纪后迁往</a:t>
            </a:r>
            <a:r>
              <a:rPr lang="zh-CN" altLang="en-US" sz="2800" b="1" dirty="0">
                <a:solidFill>
                  <a:srgbClr val="FF0000"/>
                </a:solidFill>
              </a:rPr>
              <a:t>加拿大</a:t>
            </a:r>
            <a:r>
              <a:rPr lang="zh-CN" altLang="en-US" sz="2800" b="1" dirty="0"/>
              <a:t>的欧洲移民后代</a:t>
            </a:r>
            <a:r>
              <a:rPr lang="en-US" altLang="zh-CN" sz="2800" b="1" dirty="0"/>
              <a:t>.</a:t>
            </a:r>
          </a:p>
        </p:txBody>
      </p:sp>
      <p:sp>
        <p:nvSpPr>
          <p:cNvPr id="118790" name="Rectangle 6"/>
          <p:cNvSpPr>
            <a:spLocks noChangeArrowheads="1"/>
          </p:cNvSpPr>
          <p:nvPr/>
        </p:nvSpPr>
        <p:spPr bwMode="auto">
          <a:xfrm>
            <a:off x="179512" y="3200400"/>
            <a:ext cx="7467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Tx/>
              <a:buChar char="•"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可用于</a:t>
            </a:r>
            <a:r>
              <a:rPr lang="zh-CN" altLang="en-US" sz="2800" b="1" dirty="0">
                <a:solidFill>
                  <a:srgbClr val="FF0000"/>
                </a:solidFill>
              </a:rPr>
              <a:t>短期</a:t>
            </a:r>
            <a:r>
              <a:rPr lang="zh-CN" altLang="en-US" sz="2800" b="1" dirty="0"/>
              <a:t>而不能用于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较长期的</a:t>
            </a:r>
            <a:r>
              <a:rPr lang="zh-CN" altLang="en-US" sz="2800" b="1" dirty="0"/>
              <a:t>人口预测</a:t>
            </a:r>
            <a:r>
              <a:rPr lang="en-US" altLang="zh-CN" sz="2800" b="1" dirty="0"/>
              <a:t>.</a:t>
            </a:r>
          </a:p>
        </p:txBody>
      </p:sp>
      <p:sp>
        <p:nvSpPr>
          <p:cNvPr id="118791" name="Rectangle 7"/>
          <p:cNvSpPr>
            <a:spLocks noChangeArrowheads="1"/>
          </p:cNvSpPr>
          <p:nvPr/>
        </p:nvSpPr>
        <p:spPr bwMode="auto">
          <a:xfrm>
            <a:off x="251520" y="2564904"/>
            <a:ext cx="6477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buFontTx/>
              <a:buChar char="•"/>
            </a:pPr>
            <a:r>
              <a:rPr lang="en-US" altLang="zh-CN" sz="2800" b="1" dirty="0">
                <a:latin typeface="+mj-lt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j-lt"/>
                <a:ea typeface="楷体_GB2312" pitchFamily="49" charset="-122"/>
              </a:rPr>
              <a:t>不符合</a:t>
            </a:r>
            <a:r>
              <a:rPr lang="en-US" altLang="zh-CN" sz="2800" b="1" dirty="0">
                <a:latin typeface="+mj-lt"/>
                <a:ea typeface="楷体_GB2312" pitchFamily="49" charset="-122"/>
              </a:rPr>
              <a:t>19</a:t>
            </a:r>
            <a:r>
              <a:rPr lang="zh-CN" altLang="en-US" sz="2800" b="1" dirty="0">
                <a:latin typeface="+mj-lt"/>
                <a:ea typeface="楷体_GB2312" pitchFamily="49" charset="-122"/>
              </a:rPr>
              <a:t>世纪后</a:t>
            </a:r>
            <a:r>
              <a:rPr lang="zh-CN" altLang="en-US" sz="2800" b="1" dirty="0">
                <a:solidFill>
                  <a:srgbClr val="FF0000"/>
                </a:solidFill>
                <a:latin typeface="+mj-lt"/>
                <a:ea typeface="楷体_GB2312" pitchFamily="49" charset="-122"/>
              </a:rPr>
              <a:t>多数地区</a:t>
            </a:r>
            <a:r>
              <a:rPr lang="zh-CN" altLang="en-US" sz="2800" b="1" dirty="0">
                <a:latin typeface="+mj-lt"/>
                <a:ea typeface="楷体_GB2312" pitchFamily="49" charset="-122"/>
              </a:rPr>
              <a:t>人口增长规律</a:t>
            </a:r>
            <a:r>
              <a:rPr lang="en-US" altLang="zh-CN" sz="2800" b="1" dirty="0">
                <a:latin typeface="+mj-lt"/>
                <a:ea typeface="楷体_GB2312" pitchFamily="49" charset="-122"/>
              </a:rPr>
              <a:t>.</a:t>
            </a:r>
          </a:p>
        </p:txBody>
      </p:sp>
      <p:sp>
        <p:nvSpPr>
          <p:cNvPr id="45066" name="AutoShape 10"/>
          <p:cNvSpPr>
            <a:spLocks noChangeArrowheads="1"/>
          </p:cNvSpPr>
          <p:nvPr/>
        </p:nvSpPr>
        <p:spPr bwMode="auto">
          <a:xfrm>
            <a:off x="3708400" y="5673725"/>
            <a:ext cx="381000" cy="228600"/>
          </a:xfrm>
          <a:prstGeom prst="notchedRightArrow">
            <a:avLst>
              <a:gd name="adj1" fmla="val 50000"/>
              <a:gd name="adj2" fmla="val 4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894632" y="692696"/>
            <a:ext cx="5341663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6.  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指数增长模型的应用及局限性</a:t>
            </a: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179511" y="4115544"/>
            <a:ext cx="88914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Tx/>
              <a:buChar char="•"/>
            </a:pPr>
            <a:r>
              <a:rPr lang="en-US" altLang="zh-CN" sz="2800" b="1" dirty="0"/>
              <a:t>  </a:t>
            </a:r>
            <a:r>
              <a:rPr lang="zh-CN" altLang="zh-CN" sz="2800" b="1" dirty="0"/>
              <a:t>改进的指数模型</a:t>
            </a:r>
            <a:r>
              <a:rPr lang="zh-CN" altLang="en-US" sz="2800" b="1" dirty="0"/>
              <a:t>计算</a:t>
            </a:r>
            <a:r>
              <a:rPr lang="zh-CN" altLang="zh-CN" sz="2800" b="1" dirty="0"/>
              <a:t>结果有所改善</a:t>
            </a:r>
            <a:r>
              <a:rPr lang="en-US" altLang="zh-CN" sz="2800" b="1" dirty="0"/>
              <a:t>,  </a:t>
            </a:r>
            <a:r>
              <a:rPr lang="zh-CN" altLang="zh-CN" sz="2800" b="1" dirty="0"/>
              <a:t>但它</a:t>
            </a:r>
            <a:r>
              <a:rPr lang="zh-CN" altLang="en-US" sz="2800" b="1" dirty="0"/>
              <a:t>未</a:t>
            </a:r>
            <a:r>
              <a:rPr lang="zh-CN" altLang="zh-CN" sz="2800" b="1" dirty="0"/>
              <a:t>反映增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   </a:t>
            </a:r>
            <a:r>
              <a:rPr lang="zh-CN" altLang="zh-CN" sz="2800" b="1" dirty="0"/>
              <a:t>长率下降</a:t>
            </a:r>
            <a:r>
              <a:rPr lang="zh-CN" altLang="en-US" sz="2800" b="1" dirty="0"/>
              <a:t>的机理</a:t>
            </a:r>
            <a:r>
              <a:rPr lang="en-US" altLang="zh-CN" sz="2800" b="1" dirty="0"/>
              <a:t>, </a:t>
            </a:r>
            <a:r>
              <a:rPr lang="zh-CN" altLang="zh-CN" sz="2800" b="1" dirty="0"/>
              <a:t>函数形式也不</a:t>
            </a:r>
            <a:r>
              <a:rPr lang="zh-CN" altLang="en-US" sz="2800" b="1" dirty="0"/>
              <a:t>易</a:t>
            </a:r>
            <a:r>
              <a:rPr lang="zh-CN" altLang="zh-CN" sz="2800" b="1" dirty="0"/>
              <a:t>确定</a:t>
            </a:r>
            <a:r>
              <a:rPr lang="en-US" altLang="zh-CN" sz="2800" b="1" dirty="0"/>
              <a:t>, </a:t>
            </a:r>
            <a:r>
              <a:rPr lang="zh-CN" altLang="zh-CN" sz="2800" b="1" dirty="0">
                <a:solidFill>
                  <a:srgbClr val="FF0000"/>
                </a:solidFill>
              </a:rPr>
              <a:t>不便</a:t>
            </a:r>
            <a:r>
              <a:rPr lang="zh-CN" altLang="en-US" sz="2800" b="1" dirty="0">
                <a:solidFill>
                  <a:srgbClr val="FF0000"/>
                </a:solidFill>
              </a:rPr>
              <a:t>于</a:t>
            </a:r>
            <a:r>
              <a:rPr lang="zh-CN" altLang="zh-CN" sz="2800" b="1" dirty="0">
                <a:solidFill>
                  <a:srgbClr val="FF0000"/>
                </a:solidFill>
              </a:rPr>
              <a:t>应用</a:t>
            </a:r>
            <a:r>
              <a:rPr lang="en-US" altLang="zh-CN" sz="2800" b="1" dirty="0"/>
              <a:t>.</a:t>
            </a:r>
          </a:p>
        </p:txBody>
      </p:sp>
      <p:sp>
        <p:nvSpPr>
          <p:cNvPr id="6" name="矩形 5"/>
          <p:cNvSpPr/>
          <p:nvPr/>
        </p:nvSpPr>
        <p:spPr>
          <a:xfrm>
            <a:off x="412774" y="5229200"/>
            <a:ext cx="8424936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需分析</a:t>
            </a: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人口增长率下降的机理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修改假设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建立新模型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19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 autoUpdateAnimBg="0"/>
      <p:bldP spid="118789" grpId="0" autoUpdateAnimBg="0"/>
      <p:bldP spid="118790" grpId="0" autoUpdateAnimBg="0"/>
      <p:bldP spid="118791" grpId="0" autoUpdateAnimBg="0"/>
      <p:bldP spid="17" grpId="0" autoUpdateAnimBg="0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499649" y="577316"/>
            <a:ext cx="3940586" cy="5334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/>
          <a:lstStyle/>
          <a:p>
            <a:pPr algn="ctr"/>
            <a:r>
              <a:rPr lang="en-US" altLang="zh-CN" sz="3200" b="1" dirty="0">
                <a:latin typeface="+mj-lt"/>
                <a:ea typeface="隶书" panose="02010509060101010101" pitchFamily="49" charset="-122"/>
              </a:rPr>
              <a:t>logistic </a:t>
            </a:r>
            <a:r>
              <a:rPr lang="zh-CN" altLang="en-US" sz="3200" b="1" dirty="0">
                <a:latin typeface="+mj-lt"/>
                <a:ea typeface="隶书" panose="02010509060101010101" pitchFamily="49" charset="-122"/>
              </a:rPr>
              <a:t>模型</a:t>
            </a:r>
          </a:p>
        </p:txBody>
      </p:sp>
      <p:sp>
        <p:nvSpPr>
          <p:cNvPr id="3" name="矩形 2"/>
          <p:cNvSpPr/>
          <p:nvPr/>
        </p:nvSpPr>
        <p:spPr>
          <a:xfrm>
            <a:off x="569860" y="1196752"/>
            <a:ext cx="1986441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1. </a:t>
            </a:r>
            <a:r>
              <a:rPr lang="zh-CN" altLang="zh-CN" sz="2800" b="1" dirty="0"/>
              <a:t>模型建立</a:t>
            </a:r>
            <a:endParaRPr lang="zh-CN" altLang="en-US" sz="2800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23528" y="1700808"/>
            <a:ext cx="792088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b="1" dirty="0"/>
              <a:t>人口增长到一定数量后</a:t>
            </a:r>
            <a:r>
              <a:rPr lang="zh-CN" altLang="en-US" sz="2800" b="1" dirty="0">
                <a:solidFill>
                  <a:srgbClr val="FF0000"/>
                </a:solidFill>
              </a:rPr>
              <a:t>增长率下降</a:t>
            </a:r>
            <a:r>
              <a:rPr lang="zh-CN" altLang="en-US" sz="2800" b="1" dirty="0"/>
              <a:t>的原因</a:t>
            </a:r>
            <a:r>
              <a:rPr lang="en-US" altLang="zh-CN" sz="2800" b="1" dirty="0"/>
              <a:t>——</a:t>
            </a:r>
            <a:endParaRPr lang="zh-CN" altLang="en-US" sz="2800" b="1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06152" y="2348880"/>
            <a:ext cx="6934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2800" b="1" dirty="0"/>
              <a:t>资源、环境等因素对人口增长的</a:t>
            </a:r>
            <a:r>
              <a:rPr lang="zh-CN" altLang="en-US" sz="2800" b="1" dirty="0">
                <a:solidFill>
                  <a:srgbClr val="FF0000"/>
                </a:solidFill>
              </a:rPr>
              <a:t>阻滞作用</a:t>
            </a:r>
            <a:r>
              <a:rPr lang="en-US" altLang="zh-CN" sz="2800" b="1" dirty="0"/>
              <a:t>,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67544" y="2924944"/>
            <a:ext cx="5650568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2800" b="1" dirty="0"/>
              <a:t>且阻滞作用随人口增加而</a:t>
            </a:r>
            <a:r>
              <a:rPr lang="zh-CN" altLang="en-US" sz="2800" b="1" dirty="0">
                <a:solidFill>
                  <a:srgbClr val="FF0000"/>
                </a:solidFill>
              </a:rPr>
              <a:t>变大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11" name="矩形 10"/>
          <p:cNvSpPr/>
          <p:nvPr/>
        </p:nvSpPr>
        <p:spPr>
          <a:xfrm>
            <a:off x="395536" y="3717032"/>
            <a:ext cx="49744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zh-CN" sz="2800" b="1" dirty="0"/>
              <a:t>简单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便于应用的线性函数</a:t>
            </a:r>
            <a:endParaRPr lang="zh-CN" altLang="en-US" sz="2800" b="1" dirty="0"/>
          </a:p>
        </p:txBody>
      </p:sp>
      <p:grpSp>
        <p:nvGrpSpPr>
          <p:cNvPr id="15" name="组合 14"/>
          <p:cNvGrpSpPr/>
          <p:nvPr/>
        </p:nvGrpSpPr>
        <p:grpSpPr>
          <a:xfrm>
            <a:off x="5868144" y="2960663"/>
            <a:ext cx="2445556" cy="685800"/>
            <a:chOff x="6034756" y="3270815"/>
            <a:chExt cx="2445556" cy="685800"/>
          </a:xfrm>
        </p:grpSpPr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6118112" y="3270815"/>
              <a:ext cx="2362200" cy="685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/>
          </p:spPr>
          <p:txBody>
            <a:bodyPr wrap="none" anchor="ctr"/>
            <a:lstStyle/>
            <a:p>
              <a:pPr algn="ctr"/>
              <a:r>
                <a:rPr lang="en-US" altLang="zh-CN" sz="2800" b="1" i="1" dirty="0"/>
                <a:t>r</a:t>
              </a:r>
              <a:r>
                <a:rPr lang="zh-CN" altLang="zh-CN" sz="2800" b="1" dirty="0"/>
                <a:t>是</a:t>
              </a:r>
              <a:r>
                <a:rPr lang="en-US" altLang="zh-CN" sz="2800" b="1" i="1" dirty="0"/>
                <a:t>x</a:t>
              </a:r>
              <a:r>
                <a:rPr lang="zh-CN" altLang="en-US" sz="2800" b="1" dirty="0"/>
                <a:t>的减函数</a:t>
              </a:r>
            </a:p>
          </p:txBody>
        </p:sp>
        <p:sp>
          <p:nvSpPr>
            <p:cNvPr id="12" name="AutoShape 14"/>
            <p:cNvSpPr>
              <a:spLocks noChangeArrowheads="1"/>
            </p:cNvSpPr>
            <p:nvPr/>
          </p:nvSpPr>
          <p:spPr bwMode="auto">
            <a:xfrm>
              <a:off x="6034756" y="3429000"/>
              <a:ext cx="121420" cy="419472"/>
            </a:xfrm>
            <a:prstGeom prst="rightArrow">
              <a:avLst>
                <a:gd name="adj1" fmla="val 50000"/>
                <a:gd name="adj2" fmla="val 3125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629862"/>
              </p:ext>
            </p:extLst>
          </p:nvPr>
        </p:nvGraphicFramePr>
        <p:xfrm>
          <a:off x="5292080" y="3759989"/>
          <a:ext cx="2021950" cy="488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5" name="公式" r:id="rId3" imgW="825500" imgH="203200" progId="Equation.3">
                  <p:embed/>
                </p:oleObj>
              </mc:Choice>
              <mc:Fallback>
                <p:oleObj name="公式" r:id="rId3" imgW="8255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3759989"/>
                        <a:ext cx="2021950" cy="48805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7452320" y="3717032"/>
            <a:ext cx="17889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b="1" dirty="0"/>
              <a:t>系数</a:t>
            </a:r>
            <a:r>
              <a:rPr lang="en-US" altLang="zh-CN" sz="2800" b="1" i="1" dirty="0" err="1"/>
              <a:t>a,b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？</a:t>
            </a:r>
          </a:p>
        </p:txBody>
      </p:sp>
      <p:sp>
        <p:nvSpPr>
          <p:cNvPr id="17" name="矩形 16"/>
          <p:cNvSpPr/>
          <p:nvPr/>
        </p:nvSpPr>
        <p:spPr>
          <a:xfrm>
            <a:off x="467544" y="4494667"/>
            <a:ext cx="69847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固有</a:t>
            </a:r>
            <a:r>
              <a:rPr lang="zh-CN" altLang="zh-CN" sz="2800" b="1" dirty="0">
                <a:solidFill>
                  <a:srgbClr val="FF0000"/>
                </a:solidFill>
              </a:rPr>
              <a:t>增长率</a:t>
            </a:r>
            <a:r>
              <a:rPr lang="en-US" altLang="zh-CN" sz="2800" b="1" i="1" dirty="0">
                <a:solidFill>
                  <a:srgbClr val="FF0000"/>
                </a:solidFill>
              </a:rPr>
              <a:t>r </a:t>
            </a:r>
            <a:r>
              <a:rPr lang="en-US" altLang="zh-CN" sz="2800" b="1" i="1" dirty="0"/>
              <a:t>~</a:t>
            </a:r>
            <a:r>
              <a:rPr lang="zh-CN" altLang="zh-CN" sz="2800" b="1" dirty="0"/>
              <a:t>理论上</a:t>
            </a:r>
            <a:r>
              <a:rPr lang="en-US" altLang="zh-CN" sz="2800" b="1" i="1" dirty="0"/>
              <a:t>x </a:t>
            </a:r>
            <a:r>
              <a:rPr lang="en-US" altLang="zh-CN" sz="2800" b="1" dirty="0"/>
              <a:t>= 0</a:t>
            </a:r>
            <a:r>
              <a:rPr lang="zh-CN" altLang="en-US" sz="2800" b="1" dirty="0"/>
              <a:t>时</a:t>
            </a:r>
            <a:r>
              <a:rPr lang="zh-CN" altLang="zh-CN" sz="2800" b="1" dirty="0"/>
              <a:t>的增长率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21" name="矩形 20"/>
          <p:cNvSpPr/>
          <p:nvPr/>
        </p:nvSpPr>
        <p:spPr>
          <a:xfrm>
            <a:off x="467544" y="5209221"/>
            <a:ext cx="70567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zh-CN" sz="2800" b="1" dirty="0">
                <a:solidFill>
                  <a:srgbClr val="FF0000"/>
                </a:solidFill>
              </a:rPr>
              <a:t>人口容量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x</a:t>
            </a:r>
            <a:r>
              <a:rPr lang="en-US" altLang="zh-CN" sz="2800" b="1" i="1" baseline="-25000" dirty="0" err="1">
                <a:solidFill>
                  <a:srgbClr val="FF0000"/>
                </a:solidFill>
              </a:rPr>
              <a:t>m</a:t>
            </a:r>
            <a:r>
              <a:rPr lang="en-US" altLang="zh-CN" sz="2800" b="1" i="1" dirty="0"/>
              <a:t>~</a:t>
            </a:r>
            <a:r>
              <a:rPr lang="zh-CN" altLang="zh-CN" sz="2800" b="1" dirty="0"/>
              <a:t>资源和环境</a:t>
            </a:r>
            <a:r>
              <a:rPr lang="zh-CN" altLang="en-US" sz="2800" b="1" dirty="0"/>
              <a:t>对</a:t>
            </a:r>
            <a:r>
              <a:rPr lang="zh-CN" altLang="zh-CN" sz="2800" b="1" dirty="0"/>
              <a:t>人口</a:t>
            </a:r>
            <a:r>
              <a:rPr lang="zh-CN" altLang="en-US" sz="2800" b="1" dirty="0"/>
              <a:t>的</a:t>
            </a:r>
            <a:r>
              <a:rPr lang="zh-CN" altLang="zh-CN" sz="2800" b="1" dirty="0"/>
              <a:t>最大容量</a:t>
            </a:r>
            <a:r>
              <a:rPr lang="en-US" altLang="zh-CN" sz="2800" b="1" dirty="0"/>
              <a:t>.</a:t>
            </a:r>
            <a:endParaRPr lang="zh-CN" altLang="zh-CN" sz="2800" b="1" dirty="0"/>
          </a:p>
        </p:txBody>
      </p:sp>
      <p:grpSp>
        <p:nvGrpSpPr>
          <p:cNvPr id="4" name="组合 3"/>
          <p:cNvGrpSpPr/>
          <p:nvPr/>
        </p:nvGrpSpPr>
        <p:grpSpPr>
          <a:xfrm>
            <a:off x="7546924" y="4494667"/>
            <a:ext cx="1235452" cy="523220"/>
            <a:chOff x="7546924" y="4494667"/>
            <a:chExt cx="1235452" cy="523220"/>
          </a:xfrm>
        </p:grpSpPr>
        <p:sp>
          <p:nvSpPr>
            <p:cNvPr id="19" name="矩形 18"/>
            <p:cNvSpPr/>
            <p:nvPr/>
          </p:nvSpPr>
          <p:spPr>
            <a:xfrm>
              <a:off x="7607054" y="4494667"/>
              <a:ext cx="117532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i="1" dirty="0"/>
                <a:t>r</a:t>
              </a:r>
              <a:r>
                <a:rPr lang="en-US" altLang="zh-CN" sz="2800" dirty="0"/>
                <a:t>(0)=</a:t>
              </a:r>
              <a:r>
                <a:rPr lang="en-US" altLang="zh-CN" sz="2800" i="1" dirty="0"/>
                <a:t> r</a:t>
              </a:r>
              <a:endParaRPr lang="zh-CN" altLang="en-US" sz="2800" dirty="0"/>
            </a:p>
          </p:txBody>
        </p:sp>
        <p:sp>
          <p:nvSpPr>
            <p:cNvPr id="24" name="AutoShape 14"/>
            <p:cNvSpPr>
              <a:spLocks noChangeArrowheads="1"/>
            </p:cNvSpPr>
            <p:nvPr/>
          </p:nvSpPr>
          <p:spPr bwMode="auto">
            <a:xfrm>
              <a:off x="7546924" y="4581128"/>
              <a:ext cx="121420" cy="419472"/>
            </a:xfrm>
            <a:prstGeom prst="rightArrow">
              <a:avLst>
                <a:gd name="adj1" fmla="val 50000"/>
                <a:gd name="adj2" fmla="val 3125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523097" y="5239998"/>
            <a:ext cx="1297375" cy="461665"/>
            <a:chOff x="7523097" y="5239998"/>
            <a:chExt cx="1297375" cy="461665"/>
          </a:xfrm>
        </p:grpSpPr>
        <p:sp>
          <p:nvSpPr>
            <p:cNvPr id="23" name="矩形 22"/>
            <p:cNvSpPr/>
            <p:nvPr/>
          </p:nvSpPr>
          <p:spPr>
            <a:xfrm>
              <a:off x="7622708" y="5239998"/>
              <a:ext cx="119776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/>
                <a:t>r</a:t>
              </a:r>
              <a:r>
                <a:rPr lang="en-US" altLang="zh-CN" dirty="0"/>
                <a:t>(</a:t>
              </a:r>
              <a:r>
                <a:rPr lang="en-US" altLang="zh-CN" i="1" dirty="0" err="1"/>
                <a:t>x</a:t>
              </a:r>
              <a:r>
                <a:rPr lang="en-US" altLang="zh-CN" i="1" baseline="-25000" dirty="0" err="1"/>
                <a:t>m</a:t>
              </a:r>
              <a:r>
                <a:rPr lang="en-US" altLang="zh-CN" dirty="0"/>
                <a:t>)=</a:t>
              </a:r>
              <a:r>
                <a:rPr lang="en-US" altLang="zh-CN" i="1" dirty="0"/>
                <a:t> </a:t>
              </a:r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25" name="AutoShape 14"/>
            <p:cNvSpPr>
              <a:spLocks noChangeArrowheads="1"/>
            </p:cNvSpPr>
            <p:nvPr/>
          </p:nvSpPr>
          <p:spPr bwMode="auto">
            <a:xfrm>
              <a:off x="7523097" y="5282191"/>
              <a:ext cx="121420" cy="419472"/>
            </a:xfrm>
            <a:prstGeom prst="rightArrow">
              <a:avLst>
                <a:gd name="adj1" fmla="val 50000"/>
                <a:gd name="adj2" fmla="val 3125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00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utoUpdateAnimBg="0"/>
      <p:bldP spid="6" grpId="0" autoUpdateAnimBg="0"/>
      <p:bldP spid="7" grpId="0" autoUpdateAnimBg="0"/>
      <p:bldP spid="11" grpId="0"/>
      <p:bldP spid="16" grpId="0"/>
      <p:bldP spid="17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95536" y="727530"/>
            <a:ext cx="1986441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1. </a:t>
            </a:r>
            <a:r>
              <a:rPr lang="zh-CN" altLang="zh-CN" sz="2800" b="1" dirty="0"/>
              <a:t>模型建立</a:t>
            </a:r>
            <a:endParaRPr lang="zh-CN" altLang="en-US" sz="2800" dirty="0"/>
          </a:p>
        </p:txBody>
      </p:sp>
      <p:sp>
        <p:nvSpPr>
          <p:cNvPr id="5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3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2411759" y="761800"/>
            <a:ext cx="2382373" cy="1012170"/>
            <a:chOff x="2411759" y="761800"/>
            <a:chExt cx="2382373" cy="1012170"/>
          </a:xfrm>
        </p:grpSpPr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88831"/>
                </p:ext>
              </p:extLst>
            </p:nvPr>
          </p:nvGraphicFramePr>
          <p:xfrm>
            <a:off x="2484755" y="761800"/>
            <a:ext cx="2020888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967" name="公式" r:id="rId3" imgW="825500" imgH="203200" progId="Equation.3">
                    <p:embed/>
                  </p:oleObj>
                </mc:Choice>
                <mc:Fallback>
                  <p:oleObj name="公式" r:id="rId3" imgW="825500" imgH="203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4755" y="761800"/>
                          <a:ext cx="2020888" cy="488950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矩形 25"/>
            <p:cNvSpPr/>
            <p:nvPr/>
          </p:nvSpPr>
          <p:spPr>
            <a:xfrm>
              <a:off x="2411759" y="1250750"/>
              <a:ext cx="2382373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2800" i="1" dirty="0"/>
                <a:t>r</a:t>
              </a:r>
              <a:r>
                <a:rPr lang="en-US" altLang="zh-CN" sz="2800" dirty="0"/>
                <a:t>(0)=</a:t>
              </a:r>
              <a:r>
                <a:rPr lang="en-US" altLang="zh-CN" sz="2800" i="1" dirty="0"/>
                <a:t>r</a:t>
              </a:r>
              <a:r>
                <a:rPr lang="en-US" altLang="zh-CN" sz="2800" dirty="0"/>
                <a:t>, </a:t>
              </a:r>
              <a:r>
                <a:rPr lang="en-US" altLang="zh-CN" sz="2800" i="1" dirty="0"/>
                <a:t>r</a:t>
              </a:r>
              <a:r>
                <a:rPr lang="en-US" altLang="zh-CN" sz="2800" dirty="0"/>
                <a:t>(</a:t>
              </a:r>
              <a:r>
                <a:rPr lang="en-US" altLang="zh-CN" sz="2800" i="1" dirty="0" err="1"/>
                <a:t>x</a:t>
              </a:r>
              <a:r>
                <a:rPr lang="en-US" altLang="zh-CN" sz="2800" i="1" baseline="-25000" dirty="0" err="1"/>
                <a:t>m</a:t>
              </a:r>
              <a:r>
                <a:rPr lang="en-US" altLang="zh-CN" sz="2800" dirty="0"/>
                <a:t>)=0 </a:t>
              </a:r>
              <a:endParaRPr lang="zh-CN" altLang="en-US" sz="2800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860032" y="764704"/>
            <a:ext cx="1622432" cy="1008112"/>
            <a:chOff x="4860032" y="764704"/>
            <a:chExt cx="1622432" cy="1008112"/>
          </a:xfrm>
        </p:grpSpPr>
        <p:sp>
          <p:nvSpPr>
            <p:cNvPr id="28" name="矩形 27"/>
            <p:cNvSpPr/>
            <p:nvPr/>
          </p:nvSpPr>
          <p:spPr>
            <a:xfrm>
              <a:off x="4968196" y="764704"/>
              <a:ext cx="88838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i="1" dirty="0"/>
                <a:t>a </a:t>
              </a:r>
              <a:r>
                <a:rPr lang="en-US" altLang="zh-CN" sz="2800" dirty="0"/>
                <a:t>= </a:t>
              </a:r>
              <a:r>
                <a:rPr lang="en-US" altLang="zh-CN" sz="2800" i="1" dirty="0"/>
                <a:t>r</a:t>
              </a:r>
              <a:endParaRPr lang="zh-CN" altLang="en-US" sz="2800" dirty="0"/>
            </a:p>
          </p:txBody>
        </p:sp>
        <p:sp>
          <p:nvSpPr>
            <p:cNvPr id="29" name="矩形 28"/>
            <p:cNvSpPr/>
            <p:nvPr/>
          </p:nvSpPr>
          <p:spPr>
            <a:xfrm>
              <a:off x="4932040" y="1249596"/>
              <a:ext cx="155042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i="1" dirty="0"/>
                <a:t>b </a:t>
              </a:r>
              <a:r>
                <a:rPr lang="en-US" altLang="zh-CN" sz="2800" dirty="0"/>
                <a:t>= </a:t>
              </a:r>
              <a:r>
                <a:rPr lang="en-US" altLang="zh-CN" sz="2800" dirty="0">
                  <a:sym typeface="Symbol"/>
                </a:rPr>
                <a:t></a:t>
              </a:r>
              <a:r>
                <a:rPr lang="en-US" altLang="zh-CN" sz="2800" i="1" dirty="0"/>
                <a:t>r</a:t>
              </a:r>
              <a:r>
                <a:rPr lang="en-US" altLang="zh-CN" sz="2800" dirty="0"/>
                <a:t>/</a:t>
              </a:r>
              <a:r>
                <a:rPr lang="en-US" altLang="zh-CN" sz="2800" i="1" dirty="0" err="1"/>
                <a:t>x</a:t>
              </a:r>
              <a:r>
                <a:rPr lang="en-US" altLang="zh-CN" sz="2800" i="1" baseline="-25000" dirty="0" err="1"/>
                <a:t>m</a:t>
              </a:r>
              <a:endParaRPr lang="zh-CN" altLang="en-US" sz="2800" dirty="0"/>
            </a:p>
          </p:txBody>
        </p:sp>
        <p:sp>
          <p:nvSpPr>
            <p:cNvPr id="30" name="AutoShape 14"/>
            <p:cNvSpPr>
              <a:spLocks noChangeArrowheads="1"/>
            </p:cNvSpPr>
            <p:nvPr/>
          </p:nvSpPr>
          <p:spPr bwMode="auto">
            <a:xfrm>
              <a:off x="4860032" y="1078188"/>
              <a:ext cx="121420" cy="419472"/>
            </a:xfrm>
            <a:prstGeom prst="rightArrow">
              <a:avLst>
                <a:gd name="adj1" fmla="val 50000"/>
                <a:gd name="adj2" fmla="val 3125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178772" y="908720"/>
            <a:ext cx="2846848" cy="530684"/>
            <a:chOff x="6178772" y="908720"/>
            <a:chExt cx="2846848" cy="530684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1149416"/>
                </p:ext>
              </p:extLst>
            </p:nvPr>
          </p:nvGraphicFramePr>
          <p:xfrm>
            <a:off x="6372200" y="908720"/>
            <a:ext cx="2653420" cy="5306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968" name="公式" r:id="rId5" imgW="1143000" imgH="228600" progId="Equation.3">
                    <p:embed/>
                  </p:oleObj>
                </mc:Choice>
                <mc:Fallback>
                  <p:oleObj name="公式" r:id="rId5" imgW="11430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72200" y="908720"/>
                          <a:ext cx="2653420" cy="530684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AutoShape 14"/>
            <p:cNvSpPr>
              <a:spLocks noChangeArrowheads="1"/>
            </p:cNvSpPr>
            <p:nvPr/>
          </p:nvSpPr>
          <p:spPr bwMode="auto">
            <a:xfrm>
              <a:off x="6178772" y="980728"/>
              <a:ext cx="121420" cy="419472"/>
            </a:xfrm>
            <a:prstGeom prst="rightArrow">
              <a:avLst>
                <a:gd name="adj1" fmla="val 50000"/>
                <a:gd name="adj2" fmla="val 3125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951011" y="2095183"/>
                <a:ext cx="1312603" cy="79355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𝑑𝑥</m:t>
                          </m:r>
                        </m:num>
                        <m:den>
                          <m:r>
                            <a:rPr lang="en-US" altLang="zh-CN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𝑟𝑥</m:t>
                      </m:r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011" y="2095183"/>
                <a:ext cx="1312603" cy="79355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/>
          <p:cNvGrpSpPr/>
          <p:nvPr/>
        </p:nvGrpSpPr>
        <p:grpSpPr>
          <a:xfrm>
            <a:off x="2561885" y="2080699"/>
            <a:ext cx="1879794" cy="793551"/>
            <a:chOff x="2561885" y="1916832"/>
            <a:chExt cx="1879794" cy="793551"/>
          </a:xfrm>
        </p:grpSpPr>
        <p:sp>
          <p:nvSpPr>
            <p:cNvPr id="34" name="右箭头 33"/>
            <p:cNvSpPr/>
            <p:nvPr/>
          </p:nvSpPr>
          <p:spPr bwMode="auto">
            <a:xfrm>
              <a:off x="2561885" y="2085775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/>
                <p:cNvSpPr/>
                <p:nvPr/>
              </p:nvSpPr>
              <p:spPr>
                <a:xfrm>
                  <a:off x="2699792" y="1916832"/>
                  <a:ext cx="1741887" cy="7935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)</m:t>
                        </m:r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zh-CN" altLang="zh-CN" dirty="0"/>
                </a:p>
              </p:txBody>
            </p:sp>
          </mc:Choice>
          <mc:Fallback xmlns="">
            <p:sp>
              <p:nvSpPr>
                <p:cNvPr id="37" name="矩形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9792" y="1916832"/>
                  <a:ext cx="1741887" cy="793551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/>
          <p:cNvGrpSpPr/>
          <p:nvPr/>
        </p:nvGrpSpPr>
        <p:grpSpPr>
          <a:xfrm>
            <a:off x="4794133" y="2008691"/>
            <a:ext cx="3985423" cy="916253"/>
            <a:chOff x="4794133" y="1844824"/>
            <a:chExt cx="3985423" cy="916253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6779186"/>
                </p:ext>
              </p:extLst>
            </p:nvPr>
          </p:nvGraphicFramePr>
          <p:xfrm>
            <a:off x="5053460" y="1844824"/>
            <a:ext cx="3726096" cy="916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969" name="公式" r:id="rId9" imgW="1739900" imgH="431800" progId="Equation.3">
                    <p:embed/>
                  </p:oleObj>
                </mc:Choice>
                <mc:Fallback>
                  <p:oleObj name="公式" r:id="rId9" imgW="17399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3460" y="1844824"/>
                          <a:ext cx="3726096" cy="916253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右箭头 37"/>
            <p:cNvSpPr/>
            <p:nvPr/>
          </p:nvSpPr>
          <p:spPr bwMode="auto">
            <a:xfrm>
              <a:off x="4794133" y="2080272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3480854" y="3121804"/>
            <a:ext cx="54731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(1-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/</a:t>
            </a:r>
            <a:r>
              <a:rPr lang="en-US" altLang="zh-CN" sz="2800" b="1" i="1" dirty="0" err="1"/>
              <a:t>x</a:t>
            </a:r>
            <a:r>
              <a:rPr lang="en-US" altLang="zh-CN" sz="2800" b="1" i="1" baseline="-25000" dirty="0" err="1"/>
              <a:t>m</a:t>
            </a:r>
            <a:r>
              <a:rPr lang="en-US" altLang="zh-CN" sz="2800" b="1" dirty="0"/>
              <a:t>)~</a:t>
            </a:r>
            <a:r>
              <a:rPr lang="zh-CN" altLang="zh-CN" sz="2800" b="1" dirty="0"/>
              <a:t>资源和环境阻滞人口增长</a:t>
            </a:r>
            <a:endParaRPr lang="zh-CN" altLang="en-US" sz="2800" b="1" dirty="0"/>
          </a:p>
        </p:txBody>
      </p:sp>
      <p:sp>
        <p:nvSpPr>
          <p:cNvPr id="13" name="矩形 12"/>
          <p:cNvSpPr/>
          <p:nvPr/>
        </p:nvSpPr>
        <p:spPr>
          <a:xfrm>
            <a:off x="467544" y="3121804"/>
            <a:ext cx="28536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i="1" dirty="0" err="1"/>
              <a:t>rx</a:t>
            </a:r>
            <a:r>
              <a:rPr lang="en-US" altLang="zh-CN" sz="2800" b="1" dirty="0"/>
              <a:t>~</a:t>
            </a:r>
            <a:r>
              <a:rPr lang="zh-CN" altLang="zh-CN" sz="2800" b="1" dirty="0"/>
              <a:t>人口自身增长</a:t>
            </a:r>
            <a:endParaRPr lang="zh-CN" altLang="en-US" sz="2800" b="1" dirty="0"/>
          </a:p>
        </p:txBody>
      </p:sp>
      <p:grpSp>
        <p:nvGrpSpPr>
          <p:cNvPr id="42" name="Group 47"/>
          <p:cNvGrpSpPr>
            <a:grpSpLocks/>
          </p:cNvGrpSpPr>
          <p:nvPr/>
        </p:nvGrpSpPr>
        <p:grpSpPr bwMode="auto">
          <a:xfrm>
            <a:off x="364170" y="3932112"/>
            <a:ext cx="3798887" cy="2089150"/>
            <a:chOff x="295" y="1434"/>
            <a:chExt cx="2393" cy="1316"/>
          </a:xfrm>
        </p:grpSpPr>
        <p:sp>
          <p:nvSpPr>
            <p:cNvPr id="43" name="Rectangle 8"/>
            <p:cNvSpPr>
              <a:spLocks noChangeArrowheads="1"/>
            </p:cNvSpPr>
            <p:nvPr/>
          </p:nvSpPr>
          <p:spPr bwMode="auto">
            <a:xfrm>
              <a:off x="295" y="1434"/>
              <a:ext cx="528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d</a:t>
              </a:r>
              <a:r>
                <a:rPr lang="en-US" altLang="zh-CN" sz="2000" b="1" i="1"/>
                <a:t>x</a:t>
              </a:r>
              <a:r>
                <a:rPr lang="en-US" altLang="zh-CN" sz="2000" b="1"/>
                <a:t>/d</a:t>
              </a:r>
              <a:r>
                <a:rPr lang="en-US" altLang="zh-CN" sz="2000" b="1" i="1"/>
                <a:t>t</a:t>
              </a:r>
            </a:p>
          </p:txBody>
        </p:sp>
        <p:grpSp>
          <p:nvGrpSpPr>
            <p:cNvPr id="44" name="Group 46"/>
            <p:cNvGrpSpPr>
              <a:grpSpLocks/>
            </p:cNvGrpSpPr>
            <p:nvPr/>
          </p:nvGrpSpPr>
          <p:grpSpPr bwMode="auto">
            <a:xfrm>
              <a:off x="576" y="1616"/>
              <a:ext cx="2112" cy="1134"/>
              <a:chOff x="576" y="1797"/>
              <a:chExt cx="2112" cy="1134"/>
            </a:xfrm>
          </p:grpSpPr>
          <p:sp>
            <p:nvSpPr>
              <p:cNvPr id="45" name="Line 9"/>
              <p:cNvSpPr>
                <a:spLocks noChangeShapeType="1"/>
              </p:cNvSpPr>
              <p:nvPr/>
            </p:nvSpPr>
            <p:spPr bwMode="auto">
              <a:xfrm flipV="1">
                <a:off x="793" y="1797"/>
                <a:ext cx="0" cy="8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Line 10"/>
              <p:cNvSpPr>
                <a:spLocks noChangeShapeType="1"/>
              </p:cNvSpPr>
              <p:nvPr/>
            </p:nvSpPr>
            <p:spPr bwMode="auto">
              <a:xfrm>
                <a:off x="793" y="2642"/>
                <a:ext cx="1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Rectangle 11"/>
              <p:cNvSpPr>
                <a:spLocks noChangeArrowheads="1"/>
              </p:cNvSpPr>
              <p:nvPr/>
            </p:nvSpPr>
            <p:spPr bwMode="auto">
              <a:xfrm>
                <a:off x="2352" y="256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 b="1" i="1"/>
                  <a:t>x</a:t>
                </a:r>
              </a:p>
            </p:txBody>
          </p:sp>
          <p:sp>
            <p:nvSpPr>
              <p:cNvPr id="48" name="Rectangle 12"/>
              <p:cNvSpPr>
                <a:spLocks noChangeArrowheads="1"/>
              </p:cNvSpPr>
              <p:nvPr/>
            </p:nvSpPr>
            <p:spPr bwMode="auto">
              <a:xfrm>
                <a:off x="576" y="2498"/>
                <a:ext cx="336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 b="1" i="1"/>
                  <a:t>O</a:t>
                </a:r>
              </a:p>
            </p:txBody>
          </p:sp>
          <p:grpSp>
            <p:nvGrpSpPr>
              <p:cNvPr id="49" name="Group 14"/>
              <p:cNvGrpSpPr>
                <a:grpSpLocks/>
              </p:cNvGrpSpPr>
              <p:nvPr/>
            </p:nvGrpSpPr>
            <p:grpSpPr bwMode="auto">
              <a:xfrm>
                <a:off x="816" y="1933"/>
                <a:ext cx="1440" cy="682"/>
                <a:chOff x="1200" y="1824"/>
                <a:chExt cx="1440" cy="912"/>
              </a:xfrm>
            </p:grpSpPr>
            <p:sp>
              <p:nvSpPr>
                <p:cNvPr id="53" name="Arc 15"/>
                <p:cNvSpPr>
                  <a:spLocks/>
                </p:cNvSpPr>
                <p:nvPr/>
              </p:nvSpPr>
              <p:spPr bwMode="auto">
                <a:xfrm flipH="1">
                  <a:off x="1200" y="1824"/>
                  <a:ext cx="720" cy="912"/>
                </a:xfrm>
                <a:custGeom>
                  <a:avLst/>
                  <a:gdLst>
                    <a:gd name="T0" fmla="*/ 0 w 21600"/>
                    <a:gd name="T1" fmla="*/ 0 h 21600"/>
                    <a:gd name="T2" fmla="*/ 24 w 21600"/>
                    <a:gd name="T3" fmla="*/ 39 h 21600"/>
                    <a:gd name="T4" fmla="*/ 0 w 21600"/>
                    <a:gd name="T5" fmla="*/ 39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Arc 16"/>
                <p:cNvSpPr>
                  <a:spLocks/>
                </p:cNvSpPr>
                <p:nvPr/>
              </p:nvSpPr>
              <p:spPr bwMode="auto">
                <a:xfrm>
                  <a:off x="1920" y="1824"/>
                  <a:ext cx="720" cy="912"/>
                </a:xfrm>
                <a:custGeom>
                  <a:avLst/>
                  <a:gdLst>
                    <a:gd name="T0" fmla="*/ 0 w 21600"/>
                    <a:gd name="T1" fmla="*/ 0 h 21600"/>
                    <a:gd name="T2" fmla="*/ 24 w 21600"/>
                    <a:gd name="T3" fmla="*/ 39 h 21600"/>
                    <a:gd name="T4" fmla="*/ 0 w 21600"/>
                    <a:gd name="T5" fmla="*/ 39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Rectangle 17"/>
              <p:cNvSpPr>
                <a:spLocks noChangeArrowheads="1"/>
              </p:cNvSpPr>
              <p:nvPr/>
            </p:nvSpPr>
            <p:spPr bwMode="auto">
              <a:xfrm>
                <a:off x="2112" y="258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 b="1" i="1"/>
                  <a:t>x</a:t>
                </a:r>
                <a:r>
                  <a:rPr lang="en-US" altLang="zh-CN" sz="2000" b="1" i="1" baseline="-25000"/>
                  <a:t>m</a:t>
                </a:r>
                <a:endParaRPr lang="en-US" altLang="zh-CN" sz="2000" b="1" i="1"/>
              </a:p>
            </p:txBody>
          </p:sp>
          <p:sp>
            <p:nvSpPr>
              <p:cNvPr id="51" name="Line 19"/>
              <p:cNvSpPr>
                <a:spLocks noChangeShapeType="1"/>
              </p:cNvSpPr>
              <p:nvPr/>
            </p:nvSpPr>
            <p:spPr bwMode="auto">
              <a:xfrm flipH="1">
                <a:off x="1546" y="1933"/>
                <a:ext cx="19" cy="7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Rectangle 20"/>
              <p:cNvSpPr>
                <a:spLocks noChangeArrowheads="1"/>
              </p:cNvSpPr>
              <p:nvPr/>
            </p:nvSpPr>
            <p:spPr bwMode="auto">
              <a:xfrm>
                <a:off x="1338" y="2499"/>
                <a:ext cx="480" cy="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 b="1" i="1"/>
                  <a:t>x</a:t>
                </a:r>
                <a:r>
                  <a:rPr lang="en-US" altLang="zh-CN" sz="2000" b="1" i="1" baseline="-25000"/>
                  <a:t>m</a:t>
                </a:r>
                <a:r>
                  <a:rPr lang="en-US" altLang="zh-CN" sz="2000" b="1"/>
                  <a:t>/2</a:t>
                </a:r>
                <a:endParaRPr lang="en-US" altLang="zh-CN" sz="2000" b="1" i="1"/>
              </a:p>
            </p:txBody>
          </p:sp>
        </p:grpSp>
      </p:grpSp>
      <p:grpSp>
        <p:nvGrpSpPr>
          <p:cNvPr id="55" name="Group 49"/>
          <p:cNvGrpSpPr>
            <a:grpSpLocks/>
          </p:cNvGrpSpPr>
          <p:nvPr/>
        </p:nvGrpSpPr>
        <p:grpSpPr bwMode="auto">
          <a:xfrm>
            <a:off x="4356100" y="3822153"/>
            <a:ext cx="4391025" cy="2343151"/>
            <a:chOff x="2744" y="1246"/>
            <a:chExt cx="2766" cy="1476"/>
          </a:xfrm>
        </p:grpSpPr>
        <p:sp>
          <p:nvSpPr>
            <p:cNvPr id="56" name="Line 26"/>
            <p:cNvSpPr>
              <a:spLocks noChangeShapeType="1"/>
            </p:cNvSpPr>
            <p:nvPr/>
          </p:nvSpPr>
          <p:spPr bwMode="auto">
            <a:xfrm>
              <a:off x="3334" y="2478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27"/>
            <p:cNvSpPr>
              <a:spLocks noChangeShapeType="1"/>
            </p:cNvSpPr>
            <p:nvPr/>
          </p:nvSpPr>
          <p:spPr bwMode="auto">
            <a:xfrm flipH="1" flipV="1">
              <a:off x="3328" y="1390"/>
              <a:ext cx="6" cy="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Rectangle 28"/>
            <p:cNvSpPr>
              <a:spLocks noChangeArrowheads="1"/>
            </p:cNvSpPr>
            <p:nvPr/>
          </p:nvSpPr>
          <p:spPr bwMode="auto">
            <a:xfrm>
              <a:off x="5239" y="2387"/>
              <a:ext cx="271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i="1"/>
                <a:t>t</a:t>
              </a:r>
            </a:p>
          </p:txBody>
        </p:sp>
        <p:sp>
          <p:nvSpPr>
            <p:cNvPr id="59" name="Rectangle 29"/>
            <p:cNvSpPr>
              <a:spLocks noChangeArrowheads="1"/>
            </p:cNvSpPr>
            <p:nvPr/>
          </p:nvSpPr>
          <p:spPr bwMode="auto">
            <a:xfrm>
              <a:off x="3040" y="124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i="1"/>
                <a:t>x</a:t>
              </a:r>
            </a:p>
          </p:txBody>
        </p:sp>
        <p:sp>
          <p:nvSpPr>
            <p:cNvPr id="60" name="Rectangle 30"/>
            <p:cNvSpPr>
              <a:spLocks noChangeArrowheads="1"/>
            </p:cNvSpPr>
            <p:nvPr/>
          </p:nvSpPr>
          <p:spPr bwMode="auto">
            <a:xfrm>
              <a:off x="3096" y="2386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dirty="0"/>
                <a:t>0</a:t>
              </a:r>
            </a:p>
          </p:txBody>
        </p:sp>
        <p:sp>
          <p:nvSpPr>
            <p:cNvPr id="61" name="AutoShape 31"/>
            <p:cNvSpPr>
              <a:spLocks noChangeArrowheads="1"/>
            </p:cNvSpPr>
            <p:nvPr/>
          </p:nvSpPr>
          <p:spPr bwMode="auto">
            <a:xfrm>
              <a:off x="2744" y="1706"/>
              <a:ext cx="136" cy="432"/>
            </a:xfrm>
            <a:prstGeom prst="notched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2" name="Rectangle 32"/>
          <p:cNvSpPr>
            <a:spLocks noChangeArrowheads="1"/>
          </p:cNvSpPr>
          <p:nvPr/>
        </p:nvSpPr>
        <p:spPr bwMode="auto">
          <a:xfrm>
            <a:off x="6300788" y="5128666"/>
            <a:ext cx="26638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zh-CN" b="1" i="1" dirty="0"/>
              <a:t>x</a:t>
            </a:r>
            <a:r>
              <a:rPr lang="zh-CN" altLang="zh-CN" b="1" dirty="0"/>
              <a:t>增加先快后慢</a:t>
            </a:r>
            <a:endParaRPr lang="zh-CN" altLang="en-US" b="1" dirty="0"/>
          </a:p>
        </p:txBody>
      </p:sp>
      <p:grpSp>
        <p:nvGrpSpPr>
          <p:cNvPr id="63" name="Group 50"/>
          <p:cNvGrpSpPr>
            <a:grpSpLocks/>
          </p:cNvGrpSpPr>
          <p:nvPr/>
        </p:nvGrpSpPr>
        <p:grpSpPr bwMode="auto">
          <a:xfrm>
            <a:off x="4859338" y="4049166"/>
            <a:ext cx="3176587" cy="976312"/>
            <a:chOff x="3061" y="1389"/>
            <a:chExt cx="2001" cy="615"/>
          </a:xfrm>
        </p:grpSpPr>
        <p:sp>
          <p:nvSpPr>
            <p:cNvPr id="64" name="Line 22"/>
            <p:cNvSpPr>
              <a:spLocks noChangeShapeType="1"/>
            </p:cNvSpPr>
            <p:nvPr/>
          </p:nvSpPr>
          <p:spPr bwMode="auto">
            <a:xfrm>
              <a:off x="3334" y="157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Rectangle 23"/>
            <p:cNvSpPr>
              <a:spLocks noChangeArrowheads="1"/>
            </p:cNvSpPr>
            <p:nvPr/>
          </p:nvSpPr>
          <p:spPr bwMode="auto">
            <a:xfrm>
              <a:off x="3061" y="1389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i="1"/>
                <a:t>x</a:t>
              </a:r>
              <a:r>
                <a:rPr lang="en-US" altLang="zh-CN" sz="2000" b="1" i="1" baseline="-25000"/>
                <a:t>m</a:t>
              </a:r>
              <a:endParaRPr lang="en-US" altLang="zh-CN" sz="2000"/>
            </a:p>
          </p:txBody>
        </p:sp>
        <p:sp>
          <p:nvSpPr>
            <p:cNvPr id="66" name="Arc 35"/>
            <p:cNvSpPr>
              <a:spLocks/>
            </p:cNvSpPr>
            <p:nvPr/>
          </p:nvSpPr>
          <p:spPr bwMode="auto">
            <a:xfrm flipH="1">
              <a:off x="3923" y="1616"/>
              <a:ext cx="1008" cy="388"/>
            </a:xfrm>
            <a:custGeom>
              <a:avLst/>
              <a:gdLst>
                <a:gd name="T0" fmla="*/ 0 w 21600"/>
                <a:gd name="T1" fmla="*/ 0 h 21600"/>
                <a:gd name="T2" fmla="*/ 47 w 21600"/>
                <a:gd name="T3" fmla="*/ 7 h 21600"/>
                <a:gd name="T4" fmla="*/ 0 w 21600"/>
                <a:gd name="T5" fmla="*/ 7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7" name="Group 48"/>
          <p:cNvGrpSpPr>
            <a:grpSpLocks/>
          </p:cNvGrpSpPr>
          <p:nvPr/>
        </p:nvGrpSpPr>
        <p:grpSpPr bwMode="auto">
          <a:xfrm>
            <a:off x="4643438" y="4812753"/>
            <a:ext cx="1563687" cy="1036638"/>
            <a:chOff x="2925" y="1752"/>
            <a:chExt cx="985" cy="653"/>
          </a:xfrm>
        </p:grpSpPr>
        <p:sp>
          <p:nvSpPr>
            <p:cNvPr id="68" name="Arc 33"/>
            <p:cNvSpPr>
              <a:spLocks/>
            </p:cNvSpPr>
            <p:nvPr/>
          </p:nvSpPr>
          <p:spPr bwMode="auto">
            <a:xfrm flipV="1">
              <a:off x="3334" y="1888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15 w 21600"/>
                <a:gd name="T3" fmla="*/ 5 h 21600"/>
                <a:gd name="T4" fmla="*/ 0 w 21600"/>
                <a:gd name="T5" fmla="*/ 5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Rectangle 34"/>
            <p:cNvSpPr>
              <a:spLocks noChangeArrowheads="1"/>
            </p:cNvSpPr>
            <p:nvPr/>
          </p:nvSpPr>
          <p:spPr bwMode="auto">
            <a:xfrm>
              <a:off x="3016" y="2069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i="1"/>
                <a:t>x</a:t>
              </a:r>
              <a:r>
                <a:rPr lang="en-US" altLang="zh-CN" sz="2000" b="1" baseline="-25000"/>
                <a:t>0</a:t>
              </a:r>
              <a:endParaRPr lang="en-US" altLang="zh-CN" sz="2000" b="1"/>
            </a:p>
          </p:txBody>
        </p:sp>
        <p:sp>
          <p:nvSpPr>
            <p:cNvPr id="70" name="Line 37"/>
            <p:cNvSpPr>
              <a:spLocks noChangeShapeType="1"/>
            </p:cNvSpPr>
            <p:nvPr/>
          </p:nvSpPr>
          <p:spPr bwMode="auto">
            <a:xfrm>
              <a:off x="3334" y="1933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Rectangle 38"/>
            <p:cNvSpPr>
              <a:spLocks noChangeArrowheads="1"/>
            </p:cNvSpPr>
            <p:nvPr/>
          </p:nvSpPr>
          <p:spPr bwMode="auto">
            <a:xfrm>
              <a:off x="2925" y="1752"/>
              <a:ext cx="48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i="1"/>
                <a:t>x</a:t>
              </a:r>
              <a:r>
                <a:rPr lang="en-US" altLang="zh-CN" sz="2000" b="1" i="1" baseline="-25000"/>
                <a:t>m</a:t>
              </a:r>
              <a:r>
                <a:rPr lang="en-US" altLang="zh-CN" sz="2000" b="1"/>
                <a:t>/2</a:t>
              </a:r>
            </a:p>
          </p:txBody>
        </p:sp>
      </p:grpSp>
      <p:sp>
        <p:nvSpPr>
          <p:cNvPr id="72" name="Rectangle 51"/>
          <p:cNvSpPr>
            <a:spLocks noChangeArrowheads="1"/>
          </p:cNvSpPr>
          <p:nvPr/>
        </p:nvSpPr>
        <p:spPr bwMode="auto">
          <a:xfrm>
            <a:off x="6732588" y="4625428"/>
            <a:ext cx="12843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i="1">
                <a:solidFill>
                  <a:srgbClr val="FF3300"/>
                </a:solidFill>
              </a:rPr>
              <a:t>S</a:t>
            </a:r>
            <a:r>
              <a:rPr lang="zh-CN" altLang="zh-CN" b="1">
                <a:solidFill>
                  <a:srgbClr val="FF3300"/>
                </a:solidFill>
              </a:rPr>
              <a:t>形曲线</a:t>
            </a:r>
            <a:endParaRPr lang="zh-CN" altLang="en-US" b="1">
              <a:solidFill>
                <a:srgbClr val="FF3300"/>
              </a:solidFill>
            </a:endParaRPr>
          </a:p>
        </p:txBody>
      </p:sp>
      <p:sp>
        <p:nvSpPr>
          <p:cNvPr id="21" name="Rectangle 4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948265" y="3789040"/>
            <a:ext cx="1152128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渐近线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808860" y="5135589"/>
            <a:ext cx="914400" cy="1222793"/>
            <a:chOff x="5808860" y="5135589"/>
            <a:chExt cx="914400" cy="1222793"/>
          </a:xfrm>
        </p:grpSpPr>
        <p:sp>
          <p:nvSpPr>
            <p:cNvPr id="24" name="TextBox 23"/>
            <p:cNvSpPr txBox="1"/>
            <p:nvPr/>
          </p:nvSpPr>
          <p:spPr>
            <a:xfrm>
              <a:off x="5808860" y="5896717"/>
              <a:ext cx="914400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拐点</a:t>
              </a:r>
            </a:p>
          </p:txBody>
        </p:sp>
        <p:cxnSp>
          <p:nvCxnSpPr>
            <p:cNvPr id="35" name="直接箭头连接符 34"/>
            <p:cNvCxnSpPr/>
            <p:nvPr/>
          </p:nvCxnSpPr>
          <p:spPr bwMode="auto">
            <a:xfrm flipV="1">
              <a:off x="6228184" y="5135589"/>
              <a:ext cx="0" cy="76112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0944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3" grpId="0"/>
      <p:bldP spid="62" grpId="0" animBg="1" autoUpdateAnimBg="0"/>
      <p:bldP spid="72" grpId="0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3568" y="764704"/>
            <a:ext cx="1986441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1. </a:t>
            </a:r>
            <a:r>
              <a:rPr lang="zh-CN" altLang="zh-CN" sz="2800" b="1" dirty="0"/>
              <a:t>模型建立</a:t>
            </a:r>
            <a:endParaRPr lang="zh-CN" altLang="en-US" sz="28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459516"/>
              </p:ext>
            </p:extLst>
          </p:nvPr>
        </p:nvGraphicFramePr>
        <p:xfrm>
          <a:off x="1030858" y="1556792"/>
          <a:ext cx="3726096" cy="916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4" name="公式" r:id="rId3" imgW="1739900" imgH="431800" progId="Equation.3">
                  <p:embed/>
                </p:oleObj>
              </mc:Choice>
              <mc:Fallback>
                <p:oleObj name="公式" r:id="rId3" imgW="1739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858" y="1556792"/>
                        <a:ext cx="3726096" cy="9162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40"/>
          <p:cNvGrpSpPr/>
          <p:nvPr/>
        </p:nvGrpSpPr>
        <p:grpSpPr>
          <a:xfrm>
            <a:off x="4914900" y="2336538"/>
            <a:ext cx="4103688" cy="2343151"/>
            <a:chOff x="4643438" y="2348880"/>
            <a:chExt cx="4103688" cy="2343151"/>
          </a:xfrm>
        </p:grpSpPr>
        <p:sp>
          <p:nvSpPr>
            <p:cNvPr id="18" name="Line 26"/>
            <p:cNvSpPr>
              <a:spLocks noChangeShapeType="1"/>
            </p:cNvSpPr>
            <p:nvPr/>
          </p:nvSpPr>
          <p:spPr bwMode="auto">
            <a:xfrm>
              <a:off x="5292725" y="4304681"/>
              <a:ext cx="304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27"/>
            <p:cNvSpPr>
              <a:spLocks noChangeShapeType="1"/>
            </p:cNvSpPr>
            <p:nvPr/>
          </p:nvSpPr>
          <p:spPr bwMode="auto">
            <a:xfrm flipH="1" flipV="1">
              <a:off x="5283200" y="2577480"/>
              <a:ext cx="9525" cy="1727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Rectangle 28"/>
            <p:cNvSpPr>
              <a:spLocks noChangeArrowheads="1"/>
            </p:cNvSpPr>
            <p:nvPr/>
          </p:nvSpPr>
          <p:spPr bwMode="auto">
            <a:xfrm>
              <a:off x="8316913" y="4160218"/>
              <a:ext cx="430213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i="1"/>
                <a:t>t</a:t>
              </a:r>
            </a:p>
          </p:txBody>
        </p:sp>
        <p:sp>
          <p:nvSpPr>
            <p:cNvPr id="21" name="Rectangle 29"/>
            <p:cNvSpPr>
              <a:spLocks noChangeArrowheads="1"/>
            </p:cNvSpPr>
            <p:nvPr/>
          </p:nvSpPr>
          <p:spPr bwMode="auto">
            <a:xfrm>
              <a:off x="4826000" y="2348880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i="1"/>
                <a:t>x</a:t>
              </a:r>
            </a:p>
          </p:txBody>
        </p:sp>
        <p:sp>
          <p:nvSpPr>
            <p:cNvPr id="22" name="Rectangle 30"/>
            <p:cNvSpPr>
              <a:spLocks noChangeArrowheads="1"/>
            </p:cNvSpPr>
            <p:nvPr/>
          </p:nvSpPr>
          <p:spPr bwMode="auto">
            <a:xfrm>
              <a:off x="4914900" y="4158631"/>
              <a:ext cx="5334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dirty="0"/>
                <a:t>0</a:t>
              </a:r>
            </a:p>
          </p:txBody>
        </p:sp>
        <p:grpSp>
          <p:nvGrpSpPr>
            <p:cNvPr id="25" name="Group 50"/>
            <p:cNvGrpSpPr>
              <a:grpSpLocks/>
            </p:cNvGrpSpPr>
            <p:nvPr/>
          </p:nvGrpSpPr>
          <p:grpSpPr bwMode="auto">
            <a:xfrm>
              <a:off x="4859338" y="2575893"/>
              <a:ext cx="3176587" cy="976312"/>
              <a:chOff x="3061" y="1389"/>
              <a:chExt cx="2001" cy="615"/>
            </a:xfrm>
          </p:grpSpPr>
          <p:sp>
            <p:nvSpPr>
              <p:cNvPr id="26" name="Line 22"/>
              <p:cNvSpPr>
                <a:spLocks noChangeShapeType="1"/>
              </p:cNvSpPr>
              <p:nvPr/>
            </p:nvSpPr>
            <p:spPr bwMode="auto">
              <a:xfrm>
                <a:off x="3334" y="1570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3061" y="1389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 b="1" i="1"/>
                  <a:t>x</a:t>
                </a:r>
                <a:r>
                  <a:rPr lang="en-US" altLang="zh-CN" sz="2000" b="1" i="1" baseline="-25000"/>
                  <a:t>m</a:t>
                </a:r>
                <a:endParaRPr lang="en-US" altLang="zh-CN" sz="2000"/>
              </a:p>
            </p:txBody>
          </p:sp>
          <p:sp>
            <p:nvSpPr>
              <p:cNvPr id="28" name="Arc 35"/>
              <p:cNvSpPr>
                <a:spLocks/>
              </p:cNvSpPr>
              <p:nvPr/>
            </p:nvSpPr>
            <p:spPr bwMode="auto">
              <a:xfrm flipH="1">
                <a:off x="3923" y="1616"/>
                <a:ext cx="1008" cy="388"/>
              </a:xfrm>
              <a:custGeom>
                <a:avLst/>
                <a:gdLst>
                  <a:gd name="T0" fmla="*/ 0 w 21600"/>
                  <a:gd name="T1" fmla="*/ 0 h 21600"/>
                  <a:gd name="T2" fmla="*/ 47 w 21600"/>
                  <a:gd name="T3" fmla="*/ 7 h 21600"/>
                  <a:gd name="T4" fmla="*/ 0 w 21600"/>
                  <a:gd name="T5" fmla="*/ 7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" name="Group 48"/>
            <p:cNvGrpSpPr>
              <a:grpSpLocks/>
            </p:cNvGrpSpPr>
            <p:nvPr/>
          </p:nvGrpSpPr>
          <p:grpSpPr bwMode="auto">
            <a:xfrm>
              <a:off x="4643438" y="3339480"/>
              <a:ext cx="1563687" cy="1036638"/>
              <a:chOff x="2925" y="1752"/>
              <a:chExt cx="985" cy="653"/>
            </a:xfrm>
          </p:grpSpPr>
          <p:sp>
            <p:nvSpPr>
              <p:cNvPr id="30" name="Arc 33"/>
              <p:cNvSpPr>
                <a:spLocks/>
              </p:cNvSpPr>
              <p:nvPr/>
            </p:nvSpPr>
            <p:spPr bwMode="auto">
              <a:xfrm flipV="1">
                <a:off x="3334" y="1888"/>
                <a:ext cx="576" cy="336"/>
              </a:xfrm>
              <a:custGeom>
                <a:avLst/>
                <a:gdLst>
                  <a:gd name="T0" fmla="*/ 0 w 21600"/>
                  <a:gd name="T1" fmla="*/ 0 h 21600"/>
                  <a:gd name="T2" fmla="*/ 15 w 21600"/>
                  <a:gd name="T3" fmla="*/ 5 h 21600"/>
                  <a:gd name="T4" fmla="*/ 0 w 21600"/>
                  <a:gd name="T5" fmla="*/ 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Rectangle 34"/>
              <p:cNvSpPr>
                <a:spLocks noChangeArrowheads="1"/>
              </p:cNvSpPr>
              <p:nvPr/>
            </p:nvSpPr>
            <p:spPr bwMode="auto">
              <a:xfrm>
                <a:off x="3016" y="2069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 b="1" i="1"/>
                  <a:t>x</a:t>
                </a:r>
                <a:r>
                  <a:rPr lang="en-US" altLang="zh-CN" sz="2000" b="1" baseline="-25000"/>
                  <a:t>0</a:t>
                </a:r>
                <a:endParaRPr lang="en-US" altLang="zh-CN" sz="2000" b="1"/>
              </a:p>
            </p:txBody>
          </p:sp>
          <p:sp>
            <p:nvSpPr>
              <p:cNvPr id="32" name="Line 37"/>
              <p:cNvSpPr>
                <a:spLocks noChangeShapeType="1"/>
              </p:cNvSpPr>
              <p:nvPr/>
            </p:nvSpPr>
            <p:spPr bwMode="auto">
              <a:xfrm>
                <a:off x="3334" y="1933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Rectangle 38"/>
              <p:cNvSpPr>
                <a:spLocks noChangeArrowheads="1"/>
              </p:cNvSpPr>
              <p:nvPr/>
            </p:nvSpPr>
            <p:spPr bwMode="auto">
              <a:xfrm>
                <a:off x="2925" y="1752"/>
                <a:ext cx="480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 b="1" i="1"/>
                  <a:t>x</a:t>
                </a:r>
                <a:r>
                  <a:rPr lang="en-US" altLang="zh-CN" sz="2000" b="1" i="1" baseline="-25000"/>
                  <a:t>m</a:t>
                </a:r>
                <a:r>
                  <a:rPr lang="en-US" altLang="zh-CN" sz="2000" b="1"/>
                  <a:t>/2</a:t>
                </a:r>
              </a:p>
            </p:txBody>
          </p:sp>
        </p:grpSp>
      </p:grpSp>
      <p:sp>
        <p:nvSpPr>
          <p:cNvPr id="34" name="Rectangle 51"/>
          <p:cNvSpPr>
            <a:spLocks noChangeArrowheads="1"/>
          </p:cNvSpPr>
          <p:nvPr/>
        </p:nvSpPr>
        <p:spPr bwMode="auto">
          <a:xfrm>
            <a:off x="6934443" y="3248461"/>
            <a:ext cx="17251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/>
              <a:t>logistic</a:t>
            </a:r>
            <a:r>
              <a:rPr lang="zh-CN" altLang="zh-CN" b="1" dirty="0"/>
              <a:t>曲线</a:t>
            </a:r>
            <a:endParaRPr lang="zh-CN" altLang="en-US" b="1" dirty="0"/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708168"/>
              </p:ext>
            </p:extLst>
          </p:nvPr>
        </p:nvGraphicFramePr>
        <p:xfrm>
          <a:off x="664423" y="3083875"/>
          <a:ext cx="3763561" cy="1268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5" name="文档" r:id="rId5" imgW="1401289" imgH="634631" progId="Word.Document.8">
                  <p:embed/>
                </p:oleObj>
              </mc:Choice>
              <mc:Fallback>
                <p:oleObj name="文档" r:id="rId5" imgW="1401289" imgH="63463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423" y="3083875"/>
                        <a:ext cx="3763561" cy="126806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/>
          <p:nvPr/>
        </p:nvSpPr>
        <p:spPr>
          <a:xfrm>
            <a:off x="5062435" y="1700808"/>
            <a:ext cx="28953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/>
              <a:t>~</a:t>
            </a:r>
            <a:r>
              <a:rPr lang="zh-CN" altLang="zh-CN" sz="2800" b="1" dirty="0"/>
              <a:t>可分离变量方程</a:t>
            </a:r>
            <a:endParaRPr lang="zh-CN" altLang="en-US" sz="2800" b="1" dirty="0"/>
          </a:p>
        </p:txBody>
      </p:sp>
      <p:sp>
        <p:nvSpPr>
          <p:cNvPr id="38" name="矩形 37"/>
          <p:cNvSpPr/>
          <p:nvPr/>
        </p:nvSpPr>
        <p:spPr>
          <a:xfrm>
            <a:off x="3721254" y="795481"/>
            <a:ext cx="2071401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+mj-lt"/>
                <a:ea typeface="+mj-ea"/>
              </a:rPr>
              <a:t>logistic </a:t>
            </a:r>
            <a:r>
              <a:rPr lang="zh-CN" altLang="en-US" sz="2800" b="1" dirty="0">
                <a:latin typeface="+mj-lt"/>
                <a:ea typeface="+mj-ea"/>
              </a:rPr>
              <a:t>模型</a:t>
            </a:r>
            <a:endParaRPr lang="zh-CN" altLang="en-US" sz="2800" dirty="0">
              <a:latin typeface="+mj-lt"/>
              <a:ea typeface="+mj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2359176" y="2496386"/>
            <a:ext cx="1475598" cy="500194"/>
            <a:chOff x="2359176" y="2496386"/>
            <a:chExt cx="1475598" cy="500194"/>
          </a:xfrm>
        </p:grpSpPr>
        <p:sp>
          <p:nvSpPr>
            <p:cNvPr id="39" name="下箭头 38"/>
            <p:cNvSpPr/>
            <p:nvPr/>
          </p:nvSpPr>
          <p:spPr bwMode="auto">
            <a:xfrm>
              <a:off x="2359176" y="2615580"/>
              <a:ext cx="484632" cy="381000"/>
            </a:xfrm>
            <a:prstGeom prst="down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898670" y="2496386"/>
              <a:ext cx="936104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求解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582226" y="3157142"/>
            <a:ext cx="487362" cy="1288331"/>
            <a:chOff x="4582226" y="3157142"/>
            <a:chExt cx="487362" cy="1288331"/>
          </a:xfrm>
        </p:grpSpPr>
        <p:sp>
          <p:nvSpPr>
            <p:cNvPr id="5" name="右箭头 4"/>
            <p:cNvSpPr/>
            <p:nvPr/>
          </p:nvSpPr>
          <p:spPr bwMode="auto">
            <a:xfrm>
              <a:off x="4756954" y="3157142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582226" y="3614476"/>
              <a:ext cx="4873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作图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300192" y="3641775"/>
            <a:ext cx="720080" cy="1040978"/>
            <a:chOff x="6300192" y="3641775"/>
            <a:chExt cx="720080" cy="1040978"/>
          </a:xfrm>
        </p:grpSpPr>
        <p:sp>
          <p:nvSpPr>
            <p:cNvPr id="45" name="Line 37"/>
            <p:cNvSpPr>
              <a:spLocks noChangeShapeType="1"/>
            </p:cNvSpPr>
            <p:nvPr/>
          </p:nvSpPr>
          <p:spPr bwMode="auto">
            <a:xfrm>
              <a:off x="6478587" y="3641775"/>
              <a:ext cx="0" cy="6505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300192" y="4221088"/>
              <a:ext cx="7200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/>
                <a:t>t</a:t>
              </a:r>
              <a:r>
                <a:rPr lang="en-US" altLang="zh-CN" baseline="-25000" dirty="0"/>
                <a:t>1/2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771513" y="4798592"/>
                <a:ext cx="2923493" cy="848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1/2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/>
                            </a:rPr>
                            <m:t>𝑟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/>
                        </a:rPr>
                        <m:t>l</m:t>
                      </m:r>
                      <m:r>
                        <a:rPr lang="en-US" altLang="zh-CN" b="0" i="1" smtClean="0">
                          <a:latin typeface="Cambria Math"/>
                        </a:rPr>
                        <m:t>𝑜𝑔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1513" y="4798592"/>
                <a:ext cx="2923493" cy="84895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613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/>
      <p:bldP spid="4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3568" y="764704"/>
            <a:ext cx="1986441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2. </a:t>
            </a:r>
            <a:r>
              <a:rPr lang="zh-CN" altLang="zh-CN" sz="2800" b="1" dirty="0"/>
              <a:t>参数估计</a:t>
            </a:r>
            <a:endParaRPr lang="zh-CN" altLang="en-US" sz="28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111911" y="2145735"/>
                <a:ext cx="1969577" cy="8549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𝑟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CN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911" y="2145735"/>
                <a:ext cx="1969577" cy="85491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828841" y="622031"/>
                <a:ext cx="2388731" cy="79233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>
                              <a:latin typeface="Cambria Math"/>
                            </a:rPr>
                            <m:t>𝒙</m:t>
                          </m:r>
                        </m:e>
                      </m:acc>
                      <m:r>
                        <a:rPr lang="en-US" altLang="zh-CN" b="1" i="1">
                          <a:latin typeface="Cambria Math"/>
                        </a:rPr>
                        <m:t>=</m:t>
                      </m:r>
                      <m:r>
                        <a:rPr lang="en-US" altLang="zh-CN" b="1" i="1">
                          <a:latin typeface="Cambria Math"/>
                        </a:rPr>
                        <m:t>𝒓𝒙</m:t>
                      </m:r>
                      <m:r>
                        <a:rPr lang="en-US" altLang="zh-CN" b="1" i="1">
                          <a:latin typeface="Cambria Math"/>
                        </a:rPr>
                        <m:t>(</m:t>
                      </m:r>
                      <m:r>
                        <a:rPr lang="en-US" altLang="zh-CN" b="1" i="1">
                          <a:latin typeface="Cambria Math"/>
                        </a:rPr>
                        <m:t>𝟏</m:t>
                      </m:r>
                      <m:r>
                        <a:rPr lang="en-US" altLang="zh-CN" b="1" i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/>
                            </a:rPr>
                            <m:t>𝒙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/>
                                </a:rPr>
                                <m:t>𝒎</m:t>
                              </m:r>
                            </m:sub>
                          </m:sSub>
                        </m:den>
                      </m:f>
                      <m:r>
                        <a:rPr lang="en-US" altLang="zh-CN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CN" altLang="zh-CN" b="1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841" y="622031"/>
                <a:ext cx="2388731" cy="79233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389747" y="1464668"/>
            <a:ext cx="84969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</a:rPr>
              <a:t>方法一</a:t>
            </a:r>
            <a:r>
              <a:rPr lang="en-US" altLang="zh-CN" sz="2800" b="1" dirty="0">
                <a:solidFill>
                  <a:srgbClr val="FF0000"/>
                </a:solidFill>
              </a:rPr>
              <a:t>   </a:t>
            </a:r>
            <a:r>
              <a:rPr lang="zh-CN" altLang="zh-CN" sz="2800" b="1" dirty="0">
                <a:solidFill>
                  <a:srgbClr val="FF0000"/>
                </a:solidFill>
              </a:rPr>
              <a:t>数值微分</a:t>
            </a:r>
            <a:r>
              <a:rPr lang="zh-CN" altLang="zh-CN" sz="2800" b="1" dirty="0"/>
              <a:t>计算增长率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 </a:t>
            </a:r>
            <a:r>
              <a:rPr lang="zh-CN" altLang="zh-CN" sz="2800" b="1" dirty="0">
                <a:solidFill>
                  <a:srgbClr val="FF0000"/>
                </a:solidFill>
              </a:rPr>
              <a:t>线性最小二乘</a:t>
            </a:r>
            <a:r>
              <a:rPr lang="zh-CN" altLang="zh-CN" sz="2800" b="1" dirty="0"/>
              <a:t>估计</a:t>
            </a:r>
            <a:r>
              <a:rPr lang="zh-CN" altLang="en-US" sz="2800" b="1" dirty="0"/>
              <a:t>参数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pic>
        <p:nvPicPr>
          <p:cNvPr id="11776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149" y="3871230"/>
            <a:ext cx="3759628" cy="2075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710228" y="3519198"/>
            <a:ext cx="198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/>
              <a:t>最小二乘法</a:t>
            </a:r>
            <a:endParaRPr lang="zh-CN" altLang="en-US" sz="2800" b="1" dirty="0"/>
          </a:p>
        </p:txBody>
      </p:sp>
      <p:grpSp>
        <p:nvGrpSpPr>
          <p:cNvPr id="14" name="组合 13"/>
          <p:cNvGrpSpPr/>
          <p:nvPr/>
        </p:nvGrpSpPr>
        <p:grpSpPr>
          <a:xfrm>
            <a:off x="753541" y="4218944"/>
            <a:ext cx="2616923" cy="548730"/>
            <a:chOff x="753541" y="4218944"/>
            <a:chExt cx="2616923" cy="548730"/>
          </a:xfrm>
        </p:grpSpPr>
        <p:sp>
          <p:nvSpPr>
            <p:cNvPr id="15" name="矩形 14"/>
            <p:cNvSpPr/>
            <p:nvPr/>
          </p:nvSpPr>
          <p:spPr>
            <a:xfrm>
              <a:off x="944800" y="4218944"/>
              <a:ext cx="2425664" cy="523220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800" b="1" i="1" dirty="0"/>
                <a:t>r</a:t>
              </a:r>
              <a:r>
                <a:rPr lang="en-US" altLang="zh-CN" sz="2800" b="1" dirty="0"/>
                <a:t> =0.2805/10</a:t>
              </a:r>
              <a:r>
                <a:rPr lang="zh-CN" altLang="zh-CN" sz="2800" b="1" dirty="0"/>
                <a:t>年</a:t>
              </a:r>
              <a:endParaRPr lang="en-US" altLang="zh-CN" sz="2800" b="1" dirty="0"/>
            </a:p>
          </p:txBody>
        </p:sp>
        <p:sp>
          <p:nvSpPr>
            <p:cNvPr id="16" name="右箭头 15"/>
            <p:cNvSpPr/>
            <p:nvPr/>
          </p:nvSpPr>
          <p:spPr bwMode="auto">
            <a:xfrm>
              <a:off x="753541" y="4283042"/>
              <a:ext cx="137907" cy="484632"/>
            </a:xfrm>
            <a:prstGeom prst="rightArrow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614452"/>
              </p:ext>
            </p:extLst>
          </p:nvPr>
        </p:nvGraphicFramePr>
        <p:xfrm>
          <a:off x="4012263" y="2324126"/>
          <a:ext cx="1659184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6" name="公式" r:id="rId6" imgW="749300" imgH="228600" progId="Equation.3">
                  <p:embed/>
                </p:oleObj>
              </mc:Choice>
              <mc:Fallback>
                <p:oleObj name="公式" r:id="rId6" imgW="749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263" y="2324126"/>
                        <a:ext cx="1659184" cy="504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3370464" y="2179559"/>
            <a:ext cx="511552" cy="792525"/>
            <a:chOff x="3203848" y="2172301"/>
            <a:chExt cx="511552" cy="792525"/>
          </a:xfrm>
        </p:grpSpPr>
        <p:sp>
          <p:nvSpPr>
            <p:cNvPr id="20" name="右箭头 19"/>
            <p:cNvSpPr/>
            <p:nvPr/>
          </p:nvSpPr>
          <p:spPr bwMode="auto">
            <a:xfrm>
              <a:off x="3203848" y="2290202"/>
              <a:ext cx="137907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/>
                <p:cNvSpPr/>
                <p:nvPr/>
              </p:nvSpPr>
              <p:spPr>
                <a:xfrm>
                  <a:off x="3275856" y="2172301"/>
                  <a:ext cx="439544" cy="79252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̇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acc>
                          </m:num>
                          <m:den>
                            <m:r>
                              <a:rPr lang="en-US" altLang="zh-CN" b="0" i="1">
                                <a:latin typeface="Cambria Math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矩形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5856" y="2172301"/>
                  <a:ext cx="439544" cy="792525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矩形 21"/>
          <p:cNvSpPr/>
          <p:nvPr/>
        </p:nvSpPr>
        <p:spPr>
          <a:xfrm>
            <a:off x="3761092" y="788295"/>
            <a:ext cx="906017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000000"/>
                </a:solidFill>
              </a:rPr>
              <a:t>模型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5508104" y="2179559"/>
                <a:ext cx="2854563" cy="7872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𝑟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CN" b="1" i="1" smtClean="0">
                              <a:latin typeface="+mj-lt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zh-CN" b="1" i="1" baseline="-25000" dirty="0"/>
                            <m:t>k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en-US" altLang="zh-CN" i="1" smtClean="0">
                          <a:latin typeface="Cambria Math"/>
                        </a:rPr>
                        <m:t>𝑟</m:t>
                      </m:r>
                      <m:r>
                        <a:rPr lang="en-US" altLang="zh-CN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𝑟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altLang="zh-CN" b="1" i="1"/>
                        <m:t>x</m:t>
                      </m:r>
                      <m:r>
                        <m:rPr>
                          <m:nor/>
                        </m:rPr>
                        <a:rPr lang="en-US" altLang="zh-CN" b="1" i="1" baseline="-25000" dirty="0"/>
                        <m:t>k</m:t>
                      </m:r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179559"/>
                <a:ext cx="2854563" cy="78726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891448" y="5557574"/>
            <a:ext cx="2791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0</a:t>
            </a:r>
            <a:r>
              <a:rPr lang="en-US" altLang="zh-CN" sz="2800" b="1" dirty="0"/>
              <a:t>=3.9 (</a:t>
            </a:r>
            <a:r>
              <a:rPr lang="zh-CN" altLang="zh-CN" sz="2800" b="1" dirty="0"/>
              <a:t>原始数据</a:t>
            </a:r>
            <a:r>
              <a:rPr lang="en-US" altLang="zh-CN" sz="2800" b="1" dirty="0"/>
              <a:t>)</a:t>
            </a:r>
            <a:endParaRPr lang="zh-CN" altLang="en-US" sz="2800" b="1" dirty="0"/>
          </a:p>
        </p:txBody>
      </p:sp>
      <p:sp>
        <p:nvSpPr>
          <p:cNvPr id="27" name="矩形 26"/>
          <p:cNvSpPr/>
          <p:nvPr/>
        </p:nvSpPr>
        <p:spPr>
          <a:xfrm>
            <a:off x="920319" y="4881873"/>
            <a:ext cx="2161169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i="1" dirty="0" err="1">
                <a:solidFill>
                  <a:srgbClr val="000000"/>
                </a:solidFill>
              </a:rPr>
              <a:t>x</a:t>
            </a:r>
            <a:r>
              <a:rPr lang="en-US" altLang="zh-CN" sz="2800" b="1" i="1" baseline="-25000" dirty="0" err="1">
                <a:solidFill>
                  <a:srgbClr val="000000"/>
                </a:solidFill>
              </a:rPr>
              <a:t>m</a:t>
            </a:r>
            <a:r>
              <a:rPr lang="en-US" altLang="zh-CN" sz="2800" b="1" baseline="-25000" dirty="0">
                <a:solidFill>
                  <a:srgbClr val="000000"/>
                </a:solidFill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</a:rPr>
              <a:t>=352.0548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5641322" y="4229866"/>
            <a:ext cx="1829219" cy="913617"/>
            <a:chOff x="5641322" y="4229866"/>
            <a:chExt cx="1829219" cy="9136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/>
                <p:cNvSpPr/>
                <p:nvPr/>
              </p:nvSpPr>
              <p:spPr>
                <a:xfrm>
                  <a:off x="5641322" y="4229866"/>
                  <a:ext cx="1829219" cy="613501"/>
                </a:xfrm>
                <a:prstGeom prst="rect">
                  <a:avLst/>
                </a:prstGeom>
                <a:ln w="28575">
                  <a:solidFill>
                    <a:srgbClr val="FF000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/>
                          </a:rPr>
                          <m:t>𝑟</m:t>
                        </m:r>
                        <m:d>
                          <m:d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1800" b="0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sz="1800" i="1">
                            <a:latin typeface="Cambria Math"/>
                          </a:rPr>
                          <m:t>𝑟</m:t>
                        </m:r>
                        <m:r>
                          <a:rPr lang="en-US" altLang="zh-CN" sz="1800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i="1">
                                <a:latin typeface="Cambria Math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/>
                                  </a:rPr>
                                  <m:t>𝑚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1800" i="1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zh-CN" altLang="zh-CN" sz="1800" dirty="0"/>
                </a:p>
              </p:txBody>
            </p:sp>
          </mc:Choice>
          <mc:Fallback xmlns="">
            <p:sp>
              <p:nvSpPr>
                <p:cNvPr id="28" name="矩形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1322" y="4229866"/>
                  <a:ext cx="1829219" cy="613501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直接箭头连接符 29"/>
            <p:cNvCxnSpPr/>
            <p:nvPr/>
          </p:nvCxnSpPr>
          <p:spPr bwMode="auto">
            <a:xfrm flipH="1">
              <a:off x="6156176" y="4843367"/>
              <a:ext cx="288032" cy="30011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1" name="组合 10"/>
          <p:cNvGrpSpPr/>
          <p:nvPr/>
        </p:nvGrpSpPr>
        <p:grpSpPr>
          <a:xfrm>
            <a:off x="3491880" y="2342359"/>
            <a:ext cx="1422184" cy="1086132"/>
            <a:chOff x="3948028" y="2342359"/>
            <a:chExt cx="1422184" cy="1086132"/>
          </a:xfrm>
        </p:grpSpPr>
        <p:sp>
          <p:nvSpPr>
            <p:cNvPr id="10" name="矩形 9"/>
            <p:cNvSpPr/>
            <p:nvPr/>
          </p:nvSpPr>
          <p:spPr>
            <a:xfrm>
              <a:off x="3948028" y="2966826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b="1" dirty="0"/>
                <a:t>数值微分</a:t>
              </a:r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4219018" y="2342359"/>
              <a:ext cx="35298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i="1" dirty="0"/>
                <a:t>≈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0064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13" grpId="0"/>
      <p:bldP spid="22" grpId="0" animBg="1"/>
      <p:bldP spid="23" grpId="0"/>
      <p:bldP spid="26" grpId="0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4116" y="1844824"/>
            <a:ext cx="8064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</a:rPr>
              <a:t>方法二</a:t>
            </a:r>
            <a:r>
              <a:rPr lang="en-US" altLang="zh-CN" sz="2800" b="1" dirty="0">
                <a:solidFill>
                  <a:srgbClr val="FF0000"/>
                </a:solidFill>
              </a:rPr>
              <a:t>    </a:t>
            </a:r>
            <a:r>
              <a:rPr lang="zh-CN" altLang="zh-CN" sz="2800" b="1" dirty="0"/>
              <a:t>直接用数据和</a:t>
            </a:r>
            <a:r>
              <a:rPr lang="zh-CN" altLang="zh-CN" sz="2800" b="1" dirty="0">
                <a:solidFill>
                  <a:srgbClr val="FF0000"/>
                </a:solidFill>
              </a:rPr>
              <a:t>非线性最小二乘</a:t>
            </a:r>
            <a:r>
              <a:rPr lang="zh-CN" altLang="zh-CN" sz="2800" b="1" dirty="0"/>
              <a:t>估计</a:t>
            </a:r>
            <a:r>
              <a:rPr lang="zh-CN" altLang="en-US" sz="2800" b="1" dirty="0"/>
              <a:t>参数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683568" y="764704"/>
            <a:ext cx="1986441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2. </a:t>
            </a:r>
            <a:r>
              <a:rPr lang="zh-CN" altLang="zh-CN" sz="2800" b="1" dirty="0"/>
              <a:t>参数估计</a:t>
            </a:r>
            <a:endParaRPr lang="zh-CN" altLang="en-US" sz="28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100145"/>
              </p:ext>
            </p:extLst>
          </p:nvPr>
        </p:nvGraphicFramePr>
        <p:xfrm>
          <a:off x="4576565" y="654511"/>
          <a:ext cx="3321282" cy="1118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8" name="文档" r:id="rId3" imgW="1401289" imgH="634631" progId="Word.Document.8">
                  <p:embed/>
                </p:oleObj>
              </mc:Choice>
              <mc:Fallback>
                <p:oleObj name="文档" r:id="rId3" imgW="1401289" imgH="63463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565" y="654511"/>
                        <a:ext cx="3321282" cy="111830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3491880" y="764704"/>
            <a:ext cx="906017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000000"/>
                </a:solidFill>
              </a:rPr>
              <a:t>模型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710341"/>
              </p:ext>
            </p:extLst>
          </p:nvPr>
        </p:nvGraphicFramePr>
        <p:xfrm>
          <a:off x="2263407" y="3129354"/>
          <a:ext cx="6242102" cy="31319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588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9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63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年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实际人口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（百万）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logistic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模型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（方法一）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logistic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模型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（方法二）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19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1790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3.9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3.9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7.7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19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1800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5.3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5.1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9.5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19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1810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7.2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6.8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11.7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19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19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1980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226.5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245.8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228.3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19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1990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248.7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265.4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252.0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19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2000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281.4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282.4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275.1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19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误差平方和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2810.4  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458.2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55576" y="3140968"/>
            <a:ext cx="1296144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300"/>
              </a:lnSpc>
            </a:pPr>
            <a:r>
              <a:rPr lang="zh-CN" altLang="zh-CN" sz="2800" b="1" dirty="0"/>
              <a:t>计算</a:t>
            </a:r>
            <a:r>
              <a:rPr lang="zh-CN" altLang="en-US" sz="2800" b="1" dirty="0"/>
              <a:t>结果比较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201845" y="2454059"/>
            <a:ext cx="6402603" cy="523469"/>
            <a:chOff x="2201845" y="2454059"/>
            <a:chExt cx="6402603" cy="523469"/>
          </a:xfrm>
        </p:grpSpPr>
        <p:sp>
          <p:nvSpPr>
            <p:cNvPr id="4" name="矩形 3"/>
            <p:cNvSpPr/>
            <p:nvPr/>
          </p:nvSpPr>
          <p:spPr>
            <a:xfrm>
              <a:off x="2339752" y="2454059"/>
              <a:ext cx="6264696" cy="52322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2800" b="1" i="1" dirty="0"/>
                <a:t>r</a:t>
              </a:r>
              <a:r>
                <a:rPr lang="en-US" altLang="zh-CN" sz="2800" b="1" dirty="0"/>
                <a:t>=0.2155/10</a:t>
              </a:r>
              <a:r>
                <a:rPr lang="zh-CN" altLang="zh-CN" sz="2800" b="1" dirty="0"/>
                <a:t>年</a:t>
              </a:r>
              <a:r>
                <a:rPr lang="en-US" altLang="zh-CN" sz="2800" b="1" dirty="0"/>
                <a:t>, </a:t>
              </a:r>
              <a:r>
                <a:rPr lang="en-US" altLang="zh-CN" sz="2800" b="1" i="1" dirty="0"/>
                <a:t>x</a:t>
              </a:r>
              <a:r>
                <a:rPr lang="en-US" altLang="zh-CN" sz="2800" b="1" baseline="-25000" dirty="0"/>
                <a:t>0</a:t>
              </a:r>
              <a:r>
                <a:rPr lang="en-US" altLang="zh-CN" sz="2800" b="1" dirty="0"/>
                <a:t>= 7.6962, </a:t>
              </a:r>
              <a:r>
                <a:rPr lang="en-US" altLang="zh-CN" sz="2800" b="1" i="1" dirty="0" err="1"/>
                <a:t>x</a:t>
              </a:r>
              <a:r>
                <a:rPr lang="en-US" altLang="zh-CN" sz="2800" b="1" i="1" baseline="-25000" dirty="0" err="1"/>
                <a:t>m</a:t>
              </a:r>
              <a:r>
                <a:rPr lang="en-US" altLang="zh-CN" sz="2800" b="1" dirty="0"/>
                <a:t> =443.9931</a:t>
              </a:r>
              <a:endParaRPr lang="zh-CN" altLang="en-US" sz="2800" b="1" dirty="0"/>
            </a:p>
          </p:txBody>
        </p:sp>
        <p:sp>
          <p:nvSpPr>
            <p:cNvPr id="9" name="右箭头 8"/>
            <p:cNvSpPr/>
            <p:nvPr/>
          </p:nvSpPr>
          <p:spPr bwMode="auto">
            <a:xfrm>
              <a:off x="2201845" y="2492896"/>
              <a:ext cx="137907" cy="484632"/>
            </a:xfrm>
            <a:prstGeom prst="rightArrow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015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536" y="620688"/>
            <a:ext cx="1986441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2. </a:t>
            </a:r>
            <a:r>
              <a:rPr lang="zh-CN" altLang="zh-CN" sz="2800" b="1" dirty="0"/>
              <a:t>参数估计</a:t>
            </a:r>
            <a:endParaRPr lang="zh-CN" altLang="en-US" sz="28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790478" y="1070802"/>
            <a:ext cx="7272808" cy="2606046"/>
            <a:chOff x="790478" y="1070802"/>
            <a:chExt cx="7272808" cy="2606046"/>
          </a:xfrm>
        </p:grpSpPr>
        <p:grpSp>
          <p:nvGrpSpPr>
            <p:cNvPr id="3" name="Group 2"/>
            <p:cNvGrpSpPr>
              <a:grpSpLocks/>
            </p:cNvGrpSpPr>
            <p:nvPr/>
          </p:nvGrpSpPr>
          <p:grpSpPr bwMode="auto">
            <a:xfrm>
              <a:off x="790478" y="1070802"/>
              <a:ext cx="7272808" cy="2606046"/>
              <a:chOff x="2020" y="11480"/>
              <a:chExt cx="7840" cy="2885"/>
            </a:xfrm>
          </p:grpSpPr>
          <p:pic>
            <p:nvPicPr>
              <p:cNvPr id="119811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0" y="11500"/>
                <a:ext cx="3960" cy="28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9812" name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0" y="11480"/>
                <a:ext cx="3840" cy="28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" name="矩形 8"/>
            <p:cNvSpPr/>
            <p:nvPr/>
          </p:nvSpPr>
          <p:spPr>
            <a:xfrm>
              <a:off x="4932040" y="1340768"/>
              <a:ext cx="1725152" cy="8309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b="1" dirty="0"/>
                <a:t>logistic</a:t>
              </a:r>
              <a:r>
                <a:rPr lang="zh-CN" altLang="zh-CN" b="1" dirty="0"/>
                <a:t>模型</a:t>
              </a:r>
              <a:endParaRPr lang="en-US" altLang="zh-CN" b="1" dirty="0"/>
            </a:p>
            <a:p>
              <a:r>
                <a:rPr lang="en-US" altLang="zh-CN" b="1" dirty="0"/>
                <a:t>  (</a:t>
              </a:r>
              <a:r>
                <a:rPr lang="zh-CN" altLang="en-US" b="1" dirty="0"/>
                <a:t>方法二</a:t>
              </a:r>
              <a:r>
                <a:rPr lang="en-US" altLang="zh-CN" b="1" dirty="0"/>
                <a:t>)</a:t>
              </a:r>
              <a:endParaRPr lang="zh-CN" altLang="zh-CN" b="1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1331640" y="1340768"/>
              <a:ext cx="1725152" cy="8309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b="1" dirty="0"/>
                <a:t>logistic</a:t>
              </a:r>
              <a:r>
                <a:rPr lang="zh-CN" altLang="zh-CN" b="1" dirty="0"/>
                <a:t>模型</a:t>
              </a:r>
              <a:endParaRPr lang="en-US" altLang="zh-CN" b="1" dirty="0"/>
            </a:p>
            <a:p>
              <a:r>
                <a:rPr lang="en-US" altLang="zh-CN" b="1" dirty="0"/>
                <a:t>  (</a:t>
              </a:r>
              <a:r>
                <a:rPr lang="zh-CN" altLang="en-US" b="1" dirty="0"/>
                <a:t>方法一</a:t>
              </a:r>
              <a:r>
                <a:rPr lang="en-US" altLang="zh-CN" b="1" dirty="0"/>
                <a:t>)</a:t>
              </a:r>
              <a:endParaRPr lang="zh-CN" altLang="zh-CN" b="1" dirty="0"/>
            </a:p>
          </p:txBody>
        </p:sp>
      </p:grp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107120"/>
              </p:ext>
            </p:extLst>
          </p:nvPr>
        </p:nvGraphicFramePr>
        <p:xfrm>
          <a:off x="755576" y="4221088"/>
          <a:ext cx="7416823" cy="9144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532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7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05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指数模型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（方法一）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指数模型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（方法二）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改进的指数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模型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logistic</a:t>
                      </a: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模型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（方法一）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logistic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模型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（方法二）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34742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22048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1133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2810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458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1028715" y="3645024"/>
            <a:ext cx="6783644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ea typeface="楷体_GB2312" pitchFamily="49" charset="-122"/>
              </a:rPr>
              <a:t>指数模型与</a:t>
            </a:r>
            <a:r>
              <a:rPr lang="en-US" altLang="zh-CN" b="1" dirty="0">
                <a:latin typeface="+mj-lt"/>
                <a:ea typeface="+mj-ea"/>
              </a:rPr>
              <a:t>logistic</a:t>
            </a:r>
            <a:r>
              <a:rPr lang="zh-CN" altLang="en-US" b="1" dirty="0">
                <a:latin typeface="+mj-lt"/>
                <a:ea typeface="+mj-ea"/>
              </a:rPr>
              <a:t>模型</a:t>
            </a:r>
            <a:r>
              <a:rPr lang="zh-CN" altLang="zh-CN" b="1" dirty="0"/>
              <a:t>计算</a:t>
            </a:r>
            <a:r>
              <a:rPr lang="zh-CN" altLang="en-US" b="1" dirty="0"/>
              <a:t>结果比较</a:t>
            </a:r>
            <a:r>
              <a:rPr lang="en-US" altLang="zh-CN" b="1" dirty="0"/>
              <a:t>(</a:t>
            </a:r>
            <a:r>
              <a:rPr lang="zh-CN" altLang="zh-CN" b="1" kern="100" dirty="0">
                <a:solidFill>
                  <a:srgbClr val="FF0000"/>
                </a:solidFill>
              </a:rPr>
              <a:t>误差平方和</a:t>
            </a:r>
            <a:r>
              <a:rPr lang="en-US" altLang="zh-CN" b="1" kern="100" dirty="0"/>
              <a:t>)</a:t>
            </a:r>
            <a:endParaRPr lang="zh-CN" altLang="zh-CN" b="1" kern="100" dirty="0">
              <a:latin typeface="Times New Roman"/>
              <a:ea typeface="宋体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28165" y="5301208"/>
            <a:ext cx="6552728" cy="1114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</a:pPr>
            <a:r>
              <a:rPr lang="zh-CN" altLang="en-US" sz="2800" b="1" dirty="0"/>
              <a:t>对</a:t>
            </a:r>
            <a:r>
              <a:rPr lang="en-US" altLang="zh-CN" sz="2800" b="1" dirty="0"/>
              <a:t>1790</a:t>
            </a:r>
            <a:r>
              <a:rPr lang="zh-CN" altLang="zh-CN" sz="2800" b="1" dirty="0"/>
              <a:t>年至</a:t>
            </a:r>
            <a:r>
              <a:rPr lang="en-US" altLang="zh-CN" sz="2800" b="1" dirty="0"/>
              <a:t>2000</a:t>
            </a:r>
            <a:r>
              <a:rPr lang="zh-CN" altLang="zh-CN" sz="2800" b="1" dirty="0"/>
              <a:t>年美国人口数据的拟合，</a:t>
            </a:r>
            <a:r>
              <a:rPr lang="en-US" altLang="zh-CN" sz="2800" b="1" dirty="0"/>
              <a:t> logistic</a:t>
            </a:r>
            <a:r>
              <a:rPr lang="zh-CN" altLang="zh-CN" sz="2800" b="1" dirty="0"/>
              <a:t>模型比指数增长模型有很大改善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pSp>
        <p:nvGrpSpPr>
          <p:cNvPr id="18" name="组合 17"/>
          <p:cNvGrpSpPr/>
          <p:nvPr/>
        </p:nvGrpSpPr>
        <p:grpSpPr>
          <a:xfrm>
            <a:off x="6876256" y="2060848"/>
            <a:ext cx="2267744" cy="2952328"/>
            <a:chOff x="6876256" y="2060848"/>
            <a:chExt cx="2267744" cy="2952328"/>
          </a:xfrm>
        </p:grpSpPr>
        <p:sp>
          <p:nvSpPr>
            <p:cNvPr id="4" name="矩形 3"/>
            <p:cNvSpPr/>
            <p:nvPr/>
          </p:nvSpPr>
          <p:spPr>
            <a:xfrm>
              <a:off x="7668344" y="2588711"/>
              <a:ext cx="1475656" cy="1200329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zh-CN" b="1" dirty="0">
                  <a:solidFill>
                    <a:srgbClr val="FF0000"/>
                  </a:solidFill>
                </a:rPr>
                <a:t>非线性最小二乘</a:t>
              </a:r>
              <a:r>
                <a:rPr lang="zh-CN" altLang="en-US" b="1" dirty="0"/>
                <a:t>结果最好！</a:t>
              </a:r>
              <a:endParaRPr lang="zh-CN" altLang="en-US" dirty="0"/>
            </a:p>
          </p:txBody>
        </p:sp>
        <p:cxnSp>
          <p:nvCxnSpPr>
            <p:cNvPr id="6" name="直接箭头连接符 5"/>
            <p:cNvCxnSpPr>
              <a:stCxn id="4" idx="0"/>
            </p:cNvCxnSpPr>
            <p:nvPr/>
          </p:nvCxnSpPr>
          <p:spPr bwMode="auto">
            <a:xfrm flipH="1" flipV="1">
              <a:off x="6876256" y="2060848"/>
              <a:ext cx="1529916" cy="52786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7" name="直接箭头连接符 16"/>
            <p:cNvCxnSpPr/>
            <p:nvPr/>
          </p:nvCxnSpPr>
          <p:spPr bwMode="auto">
            <a:xfrm flipH="1">
              <a:off x="8063286" y="3789040"/>
              <a:ext cx="247643" cy="122413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61831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499649" y="735360"/>
            <a:ext cx="3940586" cy="5334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/>
          <a:lstStyle/>
          <a:p>
            <a:pPr algn="ctr"/>
            <a:r>
              <a:rPr lang="zh-CN" altLang="en-US" sz="3200" b="1" dirty="0">
                <a:latin typeface="+mj-lt"/>
                <a:ea typeface="隶书" panose="02010509060101010101" pitchFamily="49" charset="-122"/>
              </a:rPr>
              <a:t>模型检验和人口预测</a:t>
            </a:r>
          </a:p>
        </p:txBody>
      </p:sp>
      <p:sp>
        <p:nvSpPr>
          <p:cNvPr id="3" name="矩形 2"/>
          <p:cNvSpPr/>
          <p:nvPr/>
        </p:nvSpPr>
        <p:spPr>
          <a:xfrm>
            <a:off x="395536" y="1412776"/>
            <a:ext cx="79208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/>
              <a:t>上面</a:t>
            </a:r>
            <a:r>
              <a:rPr lang="zh-CN" altLang="zh-CN" sz="2800" b="1" dirty="0"/>
              <a:t>表、图给出的结果是利用</a:t>
            </a:r>
            <a:r>
              <a:rPr lang="en-US" altLang="zh-CN" sz="2800" b="1" dirty="0"/>
              <a:t>1790</a:t>
            </a:r>
            <a:r>
              <a:rPr lang="zh-CN" altLang="zh-CN" sz="2800" b="1" dirty="0"/>
              <a:t>年至</a:t>
            </a:r>
            <a:r>
              <a:rPr lang="en-US" altLang="zh-CN" sz="2800" b="1" dirty="0"/>
              <a:t>2000</a:t>
            </a:r>
            <a:r>
              <a:rPr lang="zh-CN" altLang="zh-CN" sz="2800" b="1" dirty="0"/>
              <a:t>年美国人口</a:t>
            </a:r>
            <a:r>
              <a:rPr lang="zh-CN" altLang="zh-CN" sz="2800" b="1" dirty="0">
                <a:solidFill>
                  <a:srgbClr val="FF0000"/>
                </a:solidFill>
              </a:rPr>
              <a:t>数据估计的参数代入模型计算</a:t>
            </a:r>
            <a:r>
              <a:rPr lang="zh-CN" altLang="zh-CN" sz="2800" b="1" dirty="0"/>
              <a:t>得到的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4" name="矩形 3"/>
          <p:cNvSpPr/>
          <p:nvPr/>
        </p:nvSpPr>
        <p:spPr>
          <a:xfrm>
            <a:off x="395536" y="2917911"/>
            <a:ext cx="806489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/>
              <a:t>这些结果与同期实际数据比较</a:t>
            </a:r>
            <a:r>
              <a:rPr lang="zh-CN" altLang="en-US" sz="2800" b="1" dirty="0"/>
              <a:t>虽</a:t>
            </a:r>
            <a:r>
              <a:rPr lang="zh-CN" altLang="zh-CN" sz="2800" b="1" dirty="0"/>
              <a:t>能反映模型与数据的</a:t>
            </a:r>
            <a:r>
              <a:rPr lang="zh-CN" altLang="zh-CN" sz="2800" b="1" dirty="0">
                <a:solidFill>
                  <a:srgbClr val="FF0000"/>
                </a:solidFill>
              </a:rPr>
              <a:t>拟合程度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但</a:t>
            </a:r>
            <a:r>
              <a:rPr lang="zh-CN" altLang="zh-CN" sz="2800" b="1" dirty="0">
                <a:solidFill>
                  <a:srgbClr val="FF0000"/>
                </a:solidFill>
              </a:rPr>
              <a:t>不是</a:t>
            </a:r>
            <a:r>
              <a:rPr lang="zh-CN" altLang="zh-CN" sz="2800" b="1" dirty="0"/>
              <a:t>真正意义上的</a:t>
            </a:r>
            <a:r>
              <a:rPr lang="zh-CN" altLang="zh-CN" sz="2800" b="1" dirty="0">
                <a:solidFill>
                  <a:srgbClr val="FF0000"/>
                </a:solidFill>
              </a:rPr>
              <a:t>模型检验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5" name="矩形 4"/>
          <p:cNvSpPr/>
          <p:nvPr/>
        </p:nvSpPr>
        <p:spPr>
          <a:xfrm>
            <a:off x="358853" y="4430079"/>
            <a:ext cx="824559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/>
              <a:t>在估计指数模型和</a:t>
            </a:r>
            <a:r>
              <a:rPr lang="en-US" altLang="zh-CN" sz="2800" b="1" dirty="0"/>
              <a:t>logistic</a:t>
            </a:r>
            <a:r>
              <a:rPr lang="zh-CN" altLang="zh-CN" sz="2800" b="1" dirty="0"/>
              <a:t>模型参数</a:t>
            </a:r>
            <a:r>
              <a:rPr lang="zh-CN" altLang="en-US" sz="2800" b="1" dirty="0"/>
              <a:t>时未</a:t>
            </a:r>
            <a:r>
              <a:rPr lang="zh-CN" altLang="zh-CN" sz="2800" b="1" dirty="0"/>
              <a:t>用</a:t>
            </a:r>
            <a:r>
              <a:rPr lang="en-US" altLang="zh-CN" sz="2800" b="1" dirty="0">
                <a:solidFill>
                  <a:srgbClr val="FF0000"/>
                </a:solidFill>
              </a:rPr>
              <a:t>2010</a:t>
            </a:r>
            <a:r>
              <a:rPr lang="zh-CN" altLang="zh-CN" sz="2800" b="1" dirty="0">
                <a:solidFill>
                  <a:srgbClr val="FF0000"/>
                </a:solidFill>
              </a:rPr>
              <a:t>年</a:t>
            </a:r>
            <a:r>
              <a:rPr lang="zh-CN" altLang="zh-CN" sz="2800" b="1" dirty="0"/>
              <a:t>的美国人口，</a:t>
            </a:r>
            <a:r>
              <a:rPr lang="zh-CN" altLang="zh-CN" sz="2800" b="1" dirty="0">
                <a:solidFill>
                  <a:srgbClr val="FF0000"/>
                </a:solidFill>
              </a:rPr>
              <a:t>留下</a:t>
            </a:r>
            <a:r>
              <a:rPr lang="zh-CN" altLang="zh-CN" sz="2800" b="1" dirty="0"/>
              <a:t>这个实际</a:t>
            </a:r>
            <a:r>
              <a:rPr lang="zh-CN" altLang="zh-CN" sz="2800" b="1" dirty="0">
                <a:solidFill>
                  <a:srgbClr val="FF0000"/>
                </a:solidFill>
              </a:rPr>
              <a:t>数据</a:t>
            </a:r>
            <a:r>
              <a:rPr lang="zh-CN" altLang="zh-CN" sz="2800" b="1" dirty="0"/>
              <a:t>用</a:t>
            </a:r>
            <a:r>
              <a:rPr lang="zh-CN" altLang="en-US" sz="2800" b="1" dirty="0"/>
              <a:t>于</a:t>
            </a:r>
            <a:r>
              <a:rPr lang="zh-CN" altLang="zh-CN" sz="2800" b="1" dirty="0">
                <a:solidFill>
                  <a:srgbClr val="FF0000"/>
                </a:solidFill>
              </a:rPr>
              <a:t>模型检验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50824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499649" y="672362"/>
            <a:ext cx="3940586" cy="5334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/>
          <a:lstStyle/>
          <a:p>
            <a:pPr algn="ctr"/>
            <a:r>
              <a:rPr lang="zh-CN" altLang="en-US" sz="3200" b="1" dirty="0">
                <a:latin typeface="+mj-lt"/>
                <a:ea typeface="隶书" panose="02010509060101010101" pitchFamily="49" charset="-122"/>
              </a:rPr>
              <a:t>模型检验和人口预测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30444"/>
              </p:ext>
            </p:extLst>
          </p:nvPr>
        </p:nvGraphicFramePr>
        <p:xfrm>
          <a:off x="251521" y="3140968"/>
          <a:ext cx="8712967" cy="15240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实际人口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（百万）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指数模型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方法一</a:t>
                      </a: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指数模型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方法二</a:t>
                      </a: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改进的指数模型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logistic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模型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（方法一）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logistic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模型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（方法二）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2010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年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308.7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515.0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356.0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314.0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296.8  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297.0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误差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66.8%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15.3%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1.7%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-3.9%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-3.8%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2020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年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</a:rPr>
                        <a:t>？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327.8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326.8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11560" y="2438018"/>
            <a:ext cx="7776864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2010</a:t>
            </a:r>
            <a:r>
              <a:rPr lang="zh-CN" altLang="zh-CN" sz="2800" b="1" dirty="0"/>
              <a:t>年实际人口加入重估参数</a:t>
            </a:r>
            <a:r>
              <a:rPr lang="zh-CN" altLang="zh-CN" sz="2800" b="1" dirty="0">
                <a:solidFill>
                  <a:srgbClr val="FF0000"/>
                </a:solidFill>
              </a:rPr>
              <a:t>预测</a:t>
            </a:r>
            <a:r>
              <a:rPr lang="en-US" altLang="zh-CN" sz="2800" b="1" dirty="0">
                <a:solidFill>
                  <a:srgbClr val="FF0000"/>
                </a:solidFill>
              </a:rPr>
              <a:t>2020</a:t>
            </a:r>
            <a:r>
              <a:rPr lang="zh-CN" altLang="zh-CN" sz="2800" b="1" dirty="0">
                <a:solidFill>
                  <a:srgbClr val="FF0000"/>
                </a:solidFill>
              </a:rPr>
              <a:t>年</a:t>
            </a:r>
            <a:r>
              <a:rPr lang="zh-CN" altLang="zh-CN" sz="2800" b="1" dirty="0"/>
              <a:t>人口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5" name="矩形 4"/>
          <p:cNvSpPr/>
          <p:nvPr/>
        </p:nvSpPr>
        <p:spPr>
          <a:xfrm>
            <a:off x="611560" y="1234216"/>
            <a:ext cx="7776864" cy="1114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/>
              <a:t>用</a:t>
            </a:r>
            <a:r>
              <a:rPr lang="en-US" altLang="zh-CN" sz="2800" b="1" dirty="0"/>
              <a:t>1790</a:t>
            </a:r>
            <a:r>
              <a:rPr lang="zh-CN" altLang="zh-CN" sz="2800" b="1" dirty="0"/>
              <a:t>年至</a:t>
            </a:r>
            <a:r>
              <a:rPr lang="en-US" altLang="zh-CN" sz="2800" b="1" dirty="0"/>
              <a:t>2000</a:t>
            </a:r>
            <a:r>
              <a:rPr lang="zh-CN" altLang="zh-CN" sz="2800" b="1" dirty="0"/>
              <a:t>年美国人口估计参数代入模型</a:t>
            </a:r>
            <a:r>
              <a:rPr lang="en-US" altLang="zh-CN" sz="2800" b="1" dirty="0"/>
              <a:t>,</a:t>
            </a:r>
            <a:r>
              <a:rPr lang="zh-CN" altLang="zh-CN" sz="2800" b="1" dirty="0">
                <a:solidFill>
                  <a:srgbClr val="FF0000"/>
                </a:solidFill>
              </a:rPr>
              <a:t>计算</a:t>
            </a:r>
            <a:r>
              <a:rPr lang="en-US" altLang="zh-CN" sz="2800" b="1" dirty="0">
                <a:solidFill>
                  <a:srgbClr val="FF0000"/>
                </a:solidFill>
              </a:rPr>
              <a:t>2010</a:t>
            </a:r>
            <a:r>
              <a:rPr lang="zh-CN" altLang="zh-CN" sz="2800" b="1" dirty="0">
                <a:solidFill>
                  <a:srgbClr val="FF0000"/>
                </a:solidFill>
              </a:rPr>
              <a:t>年人口</a:t>
            </a:r>
            <a:r>
              <a:rPr lang="zh-CN" altLang="en-US" sz="2800" b="1" dirty="0"/>
              <a:t>与实际值比较作为</a:t>
            </a:r>
            <a:r>
              <a:rPr lang="zh-CN" altLang="en-US" sz="2800" b="1" dirty="0">
                <a:solidFill>
                  <a:srgbClr val="FF0000"/>
                </a:solidFill>
              </a:rPr>
              <a:t>模型检验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6" name="矩形 5"/>
          <p:cNvSpPr/>
          <p:nvPr/>
        </p:nvSpPr>
        <p:spPr>
          <a:xfrm>
            <a:off x="467544" y="5500681"/>
            <a:ext cx="74888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</a:rPr>
              <a:t>预测准确性</a:t>
            </a:r>
            <a:r>
              <a:rPr lang="zh-CN" altLang="zh-CN" sz="2800" b="1" dirty="0"/>
              <a:t>需等</a:t>
            </a:r>
            <a:r>
              <a:rPr lang="en-US" altLang="zh-CN" sz="2800" b="1" dirty="0"/>
              <a:t>2020</a:t>
            </a:r>
            <a:r>
              <a:rPr lang="zh-CN" altLang="zh-CN" sz="2800" b="1" dirty="0"/>
              <a:t>年美国人口调查结果公布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7" name="矩形 6"/>
          <p:cNvSpPr/>
          <p:nvPr/>
        </p:nvSpPr>
        <p:spPr>
          <a:xfrm>
            <a:off x="7967826" y="5162127"/>
            <a:ext cx="92465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拭目以待</a:t>
            </a:r>
            <a:endParaRPr lang="zh-CN" altLang="en-US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5346" y="4869160"/>
            <a:ext cx="62231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/>
              <a:t>模型检验的</a:t>
            </a:r>
            <a:r>
              <a:rPr lang="zh-CN" altLang="en-US" sz="2800" b="1" dirty="0">
                <a:solidFill>
                  <a:srgbClr val="FF0000"/>
                </a:solidFill>
              </a:rPr>
              <a:t>误差在</a:t>
            </a:r>
            <a:r>
              <a:rPr lang="en-US" altLang="zh-CN" sz="2800" b="1" dirty="0">
                <a:solidFill>
                  <a:srgbClr val="FF0000"/>
                </a:solidFill>
              </a:rPr>
              <a:t>5%</a:t>
            </a:r>
            <a:r>
              <a:rPr lang="zh-CN" altLang="en-US" sz="2800" b="1" dirty="0">
                <a:solidFill>
                  <a:srgbClr val="FF0000"/>
                </a:solidFill>
              </a:rPr>
              <a:t>以内</a:t>
            </a:r>
            <a:r>
              <a:rPr lang="zh-CN" altLang="en-US" sz="2800" b="1" dirty="0"/>
              <a:t>，可以接受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2350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8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89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2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26" tmFilter="0, 0; 0.125,0.2665; 0.25,0.4; 0.375,0.465; 0.5,0.5;  0.625,0.535; 0.75,0.6; 0.875,0.7335; 1,1">
                                          <p:stCondLst>
                                            <p:cond delay="32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" tmFilter="0, 0; 0.125,0.2665; 0.25,0.4; 0.375,0.465; 0.5,0.5;  0.625,0.535; 0.75,0.6; 0.875,0.7335; 1,1">
                                          <p:stCondLst>
                                            <p:cond delay="651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" tmFilter="0, 0; 0.125,0.2665; 0.25,0.4; 0.375,0.465; 0.5,0.5;  0.625,0.535; 0.75,0.6; 0.875,0.7335; 1,1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1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" decel="50000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1">
                                          <p:stCondLst>
                                            <p:cond delay="64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" decel="50000">
                                          <p:stCondLst>
                                            <p:cond delay="65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1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" decel="50000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1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" decel="50000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202999" y="836712"/>
            <a:ext cx="45384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b="1" dirty="0">
                <a:solidFill>
                  <a:srgbClr val="000000"/>
                </a:solidFill>
                <a:latin typeface="Times New Roman"/>
                <a:ea typeface="隶书" panose="02010509060101010101" pitchFamily="49" charset="-122"/>
              </a:rPr>
              <a:t>logistic </a:t>
            </a:r>
            <a:r>
              <a:rPr lang="zh-CN" altLang="en-US" sz="3200" b="1" dirty="0">
                <a:solidFill>
                  <a:srgbClr val="000000"/>
                </a:solidFill>
                <a:latin typeface="Times New Roman"/>
                <a:ea typeface="隶书" panose="02010509060101010101" pitchFamily="49" charset="-122"/>
              </a:rPr>
              <a:t>模型的广泛应用</a:t>
            </a:r>
          </a:p>
        </p:txBody>
      </p:sp>
      <p:sp>
        <p:nvSpPr>
          <p:cNvPr id="4" name="矩形 3"/>
          <p:cNvSpPr/>
          <p:nvPr/>
        </p:nvSpPr>
        <p:spPr>
          <a:xfrm>
            <a:off x="649830" y="1471585"/>
            <a:ext cx="8046071" cy="1303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</a:rPr>
              <a:t>logistic</a:t>
            </a:r>
            <a:r>
              <a:rPr lang="zh-CN" altLang="zh-CN" sz="2800" b="1" dirty="0">
                <a:solidFill>
                  <a:srgbClr val="FF0000"/>
                </a:solidFill>
              </a:rPr>
              <a:t>模型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/>
              <a:t>~ </a:t>
            </a:r>
            <a:r>
              <a:rPr lang="zh-CN" altLang="zh-CN" sz="2800" b="1" dirty="0"/>
              <a:t>欧洲生物数学家</a:t>
            </a:r>
            <a:r>
              <a:rPr lang="en-US" altLang="zh-CN" sz="2800" b="1" dirty="0"/>
              <a:t>Verhulst19</a:t>
            </a:r>
            <a:r>
              <a:rPr lang="zh-CN" altLang="zh-CN" sz="2800" b="1" dirty="0"/>
              <a:t>世纪提出</a:t>
            </a:r>
            <a:r>
              <a:rPr lang="zh-CN" altLang="en-US" sz="2800" b="1" dirty="0"/>
              <a:t>，</a:t>
            </a:r>
            <a:r>
              <a:rPr lang="zh-CN" altLang="zh-CN" sz="2800" b="1" dirty="0"/>
              <a:t>中译名</a:t>
            </a:r>
            <a:r>
              <a:rPr lang="zh-CN" altLang="en-US" sz="2800" b="1" dirty="0"/>
              <a:t>为</a:t>
            </a:r>
            <a:r>
              <a:rPr lang="zh-CN" altLang="zh-CN" sz="2800" b="1" dirty="0"/>
              <a:t>逻辑斯谛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6" name="Rectangle 44"/>
          <p:cNvSpPr>
            <a:spLocks noChangeArrowheads="1"/>
          </p:cNvSpPr>
          <p:nvPr/>
        </p:nvSpPr>
        <p:spPr bwMode="auto">
          <a:xfrm>
            <a:off x="612329" y="4619600"/>
            <a:ext cx="8352159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50000"/>
              </a:lnSpc>
              <a:buFontTx/>
              <a:buChar char="•"/>
            </a:pPr>
            <a:r>
              <a:rPr lang="en-US" altLang="zh-CN" sz="2800" b="1" dirty="0">
                <a:latin typeface="宋体" pitchFamily="2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经济、社会领域中</a:t>
            </a:r>
            <a:r>
              <a:rPr lang="zh-CN" altLang="en-US" sz="2800" b="1" dirty="0">
                <a:solidFill>
                  <a:srgbClr val="FF0000"/>
                </a:solidFill>
              </a:rPr>
              <a:t>的应用</a:t>
            </a:r>
            <a:r>
              <a:rPr lang="en-US" altLang="zh-CN" sz="2800" b="1" dirty="0"/>
              <a:t>——</a:t>
            </a:r>
            <a:r>
              <a:rPr lang="zh-CN" altLang="en-US" sz="2800" b="1" dirty="0">
                <a:latin typeface="宋体" pitchFamily="2" charset="-122"/>
              </a:rPr>
              <a:t>耐用消费品销售量、</a:t>
            </a:r>
            <a:endParaRPr lang="en-US" altLang="zh-CN" sz="2800" b="1" dirty="0">
              <a:latin typeface="宋体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宋体" pitchFamily="2" charset="-122"/>
              </a:rPr>
              <a:t>  </a:t>
            </a:r>
            <a:r>
              <a:rPr lang="zh-CN" altLang="en-US" sz="2800" b="1" dirty="0">
                <a:latin typeface="宋体" pitchFamily="2" charset="-122"/>
              </a:rPr>
              <a:t>消息传播范围的</a:t>
            </a:r>
            <a:r>
              <a:rPr lang="zh-CN" altLang="en-US" sz="2800" b="1" dirty="0"/>
              <a:t>变化规律</a:t>
            </a:r>
            <a:r>
              <a:rPr lang="en-US" altLang="zh-CN" sz="2800" b="1" dirty="0"/>
              <a:t>.</a:t>
            </a:r>
            <a:endParaRPr lang="en-US" altLang="zh-CN" sz="2800" b="1" dirty="0">
              <a:latin typeface="宋体" pitchFamily="2" charset="-122"/>
            </a:endParaRPr>
          </a:p>
        </p:txBody>
      </p:sp>
      <p:sp>
        <p:nvSpPr>
          <p:cNvPr id="7" name="Text Box 45"/>
          <p:cNvSpPr txBox="1">
            <a:spLocks noChangeArrowheads="1"/>
          </p:cNvSpPr>
          <p:nvPr/>
        </p:nvSpPr>
        <p:spPr bwMode="auto">
          <a:xfrm>
            <a:off x="649830" y="2870055"/>
            <a:ext cx="788480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ts val="42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 dirty="0"/>
              <a:t>   </a:t>
            </a:r>
            <a:r>
              <a:rPr lang="zh-CN" altLang="en-US" sz="2800" b="1" dirty="0">
                <a:solidFill>
                  <a:srgbClr val="FF0000"/>
                </a:solidFill>
              </a:rPr>
              <a:t>生态、医疗领域中的应用</a:t>
            </a:r>
            <a:r>
              <a:rPr lang="en-US" altLang="zh-CN" sz="2800" b="1" dirty="0"/>
              <a:t>——</a:t>
            </a:r>
            <a:r>
              <a:rPr lang="zh-CN" altLang="en-US" sz="2800" b="1" dirty="0"/>
              <a:t>鱼塘中鱼群数量、</a:t>
            </a:r>
            <a:endParaRPr lang="en-US" altLang="zh-CN" sz="2800" b="1" dirty="0"/>
          </a:p>
          <a:p>
            <a:pPr eaLnBrk="1" hangingPunct="1">
              <a:lnSpc>
                <a:spcPts val="4200"/>
              </a:lnSpc>
              <a:spcBef>
                <a:spcPct val="50000"/>
              </a:spcBef>
            </a:pPr>
            <a:r>
              <a:rPr lang="en-US" altLang="zh-CN" sz="2800" b="1" dirty="0"/>
              <a:t>   </a:t>
            </a:r>
            <a:r>
              <a:rPr lang="zh-CN" altLang="en-US" sz="2800" b="1" dirty="0"/>
              <a:t> 森林中树木数量、传染病传播人数的变化规律</a:t>
            </a:r>
            <a:r>
              <a:rPr lang="en-US" altLang="zh-CN" sz="28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157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83568" y="1340768"/>
            <a:ext cx="799288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</a:rPr>
              <a:t>模型</a:t>
            </a:r>
            <a:r>
              <a:rPr lang="zh-CN" altLang="zh-CN" sz="2800" b="1" dirty="0">
                <a:solidFill>
                  <a:srgbClr val="FF0000"/>
                </a:solidFill>
                <a:latin typeface="+mj-lt"/>
                <a:ea typeface="+mj-ea"/>
              </a:rPr>
              <a:t>假设</a:t>
            </a:r>
            <a:r>
              <a:rPr lang="zh-CN" altLang="zh-CN" sz="2800" b="1" dirty="0">
                <a:latin typeface="+mj-lt"/>
                <a:ea typeface="+mj-ea"/>
              </a:rPr>
              <a:t>是建模的</a:t>
            </a:r>
            <a:r>
              <a:rPr lang="zh-CN" altLang="en-US" sz="2800" b="1" dirty="0">
                <a:latin typeface="+mj-lt"/>
                <a:ea typeface="+mj-ea"/>
              </a:rPr>
              <a:t>关键之一</a:t>
            </a:r>
            <a:r>
              <a:rPr lang="en-US" altLang="zh-CN" sz="2800" b="1" dirty="0">
                <a:latin typeface="+mj-lt"/>
                <a:ea typeface="+mj-ea"/>
              </a:rPr>
              <a:t>.</a:t>
            </a:r>
            <a:r>
              <a:rPr lang="zh-CN" altLang="en-US" sz="2800" b="1" dirty="0">
                <a:latin typeface="+mj-lt"/>
                <a:ea typeface="+mj-ea"/>
              </a:rPr>
              <a:t>  </a:t>
            </a:r>
            <a:r>
              <a:rPr lang="en-US" altLang="zh-CN" sz="2800" b="1" dirty="0">
                <a:latin typeface="+mj-lt"/>
                <a:ea typeface="+mj-ea"/>
              </a:rPr>
              <a:t>“</a:t>
            </a:r>
            <a:r>
              <a:rPr lang="zh-CN" altLang="zh-CN" sz="2800" b="1" dirty="0">
                <a:latin typeface="+mj-lt"/>
                <a:ea typeface="+mj-ea"/>
              </a:rPr>
              <a:t>增长率随人口增加而线性减少</a:t>
            </a:r>
            <a:r>
              <a:rPr lang="en-US" altLang="zh-CN" sz="2800" b="1" dirty="0">
                <a:latin typeface="+mj-lt"/>
                <a:ea typeface="+mj-ea"/>
              </a:rPr>
              <a:t>”</a:t>
            </a:r>
            <a:r>
              <a:rPr lang="zh-CN" altLang="en-US" sz="2800" b="1" dirty="0">
                <a:latin typeface="+mj-lt"/>
                <a:ea typeface="+mj-ea"/>
              </a:rPr>
              <a:t>是</a:t>
            </a:r>
            <a:r>
              <a:rPr lang="en-US" altLang="zh-CN" sz="2800" b="1" dirty="0">
                <a:solidFill>
                  <a:srgbClr val="000000"/>
                </a:solidFill>
                <a:latin typeface="+mj-lt"/>
                <a:ea typeface="+mj-ea"/>
              </a:rPr>
              <a:t>logistic</a:t>
            </a:r>
            <a:r>
              <a:rPr lang="zh-CN" altLang="en-US" sz="2800" b="1" dirty="0">
                <a:solidFill>
                  <a:srgbClr val="000000"/>
                </a:solidFill>
                <a:latin typeface="+mj-lt"/>
                <a:ea typeface="+mj-ea"/>
              </a:rPr>
              <a:t>模型</a:t>
            </a:r>
            <a:r>
              <a:rPr lang="zh-CN" altLang="en-US" sz="2800" b="1" dirty="0">
                <a:latin typeface="+mj-lt"/>
                <a:ea typeface="+mj-ea"/>
              </a:rPr>
              <a:t>的</a:t>
            </a:r>
            <a:r>
              <a:rPr lang="zh-CN" altLang="zh-CN" sz="2800" b="1" dirty="0">
                <a:solidFill>
                  <a:srgbClr val="FF0000"/>
                </a:solidFill>
                <a:latin typeface="+mj-lt"/>
                <a:ea typeface="+mj-ea"/>
              </a:rPr>
              <a:t>合理、简化假设</a:t>
            </a:r>
            <a:r>
              <a:rPr lang="en-US" altLang="zh-CN" sz="2800" b="1" dirty="0">
                <a:latin typeface="+mj-lt"/>
                <a:ea typeface="+mj-ea"/>
              </a:rPr>
              <a:t>.</a:t>
            </a:r>
            <a:endParaRPr lang="zh-CN" altLang="en-US" sz="2800" b="1" dirty="0">
              <a:latin typeface="+mj-lt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1560" y="2636912"/>
            <a:ext cx="784887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>
                <a:solidFill>
                  <a:srgbClr val="FF0000"/>
                </a:solidFill>
              </a:rPr>
              <a:t>参数估计</a:t>
            </a:r>
            <a:r>
              <a:rPr lang="zh-CN" altLang="zh-CN" sz="2800" b="1" dirty="0"/>
              <a:t>是建模的重要步骤</a:t>
            </a:r>
            <a:r>
              <a:rPr lang="en-US" altLang="zh-CN" sz="2800" b="1" dirty="0"/>
              <a:t>, </a:t>
            </a:r>
            <a:r>
              <a:rPr lang="zh-CN" altLang="zh-CN" sz="2800" b="1" dirty="0"/>
              <a:t>最小二乘法是参数估计的基本方法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5" name="矩形 4"/>
          <p:cNvSpPr/>
          <p:nvPr/>
        </p:nvSpPr>
        <p:spPr>
          <a:xfrm>
            <a:off x="611560" y="3933056"/>
            <a:ext cx="7848872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</a:rPr>
              <a:t>模型</a:t>
            </a:r>
            <a:r>
              <a:rPr lang="zh-CN" altLang="zh-CN" sz="2800" b="1" dirty="0">
                <a:solidFill>
                  <a:srgbClr val="FF0000"/>
                </a:solidFill>
              </a:rPr>
              <a:t>检验</a:t>
            </a:r>
            <a:r>
              <a:rPr lang="zh-CN" altLang="en-US" sz="2800" b="1" dirty="0"/>
              <a:t>对建模是不可缺少的</a:t>
            </a:r>
            <a:r>
              <a:rPr lang="en-US" altLang="zh-CN" sz="2800" b="1" dirty="0"/>
              <a:t>.  </a:t>
            </a:r>
            <a:r>
              <a:rPr lang="zh-CN" altLang="zh-CN" sz="2800" b="1" dirty="0"/>
              <a:t>用作检验的数据不应</a:t>
            </a:r>
            <a:r>
              <a:rPr lang="zh-CN" altLang="en-US" sz="2800" b="1" dirty="0"/>
              <a:t>用于</a:t>
            </a:r>
            <a:r>
              <a:rPr lang="zh-CN" altLang="zh-CN" sz="2800" b="1" dirty="0"/>
              <a:t>建模过程的参数估计</a:t>
            </a:r>
            <a:r>
              <a:rPr lang="en-US" altLang="zh-CN" sz="2800" b="1" dirty="0"/>
              <a:t>, </a:t>
            </a:r>
            <a:r>
              <a:rPr lang="zh-CN" altLang="zh-CN" sz="2800" b="1" dirty="0"/>
              <a:t>正像裁判员不</a:t>
            </a:r>
            <a:r>
              <a:rPr lang="zh-CN" altLang="en-US" sz="2800" b="1" dirty="0"/>
              <a:t>能</a:t>
            </a:r>
            <a:r>
              <a:rPr lang="zh-CN" altLang="zh-CN" sz="2800" b="1" dirty="0"/>
              <a:t>做运动员一样</a:t>
            </a:r>
            <a:r>
              <a:rPr lang="en-US" altLang="zh-CN" sz="2800" b="1" dirty="0"/>
              <a:t>.</a:t>
            </a:r>
            <a:endParaRPr lang="zh-CN" altLang="zh-CN" sz="2800" b="1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499649" y="735360"/>
            <a:ext cx="3940586" cy="5334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/>
          <a:lstStyle/>
          <a:p>
            <a:pPr algn="ctr"/>
            <a:r>
              <a:rPr lang="zh-CN" altLang="en-US" sz="3200" b="1" dirty="0">
                <a:latin typeface="+mj-lt"/>
                <a:ea typeface="隶书" panose="02010509060101010101" pitchFamily="49" charset="-122"/>
              </a:rPr>
              <a:t>小结与评注</a:t>
            </a:r>
          </a:p>
        </p:txBody>
      </p:sp>
    </p:spTree>
    <p:extLst>
      <p:ext uri="{BB962C8B-B14F-4D97-AF65-F5344CB8AC3E}">
        <p14:creationId xmlns:p14="http://schemas.microsoft.com/office/powerpoint/2010/main" val="45232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shuxuemoxing">
  <a:themeElements>
    <a:clrScheme name="shuxuemoxing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FF"/>
      </a:hlink>
      <a:folHlink>
        <a:srgbClr val="B2B2B2"/>
      </a:folHlink>
    </a:clrScheme>
    <a:fontScheme name="shuxuemoxin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3333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J:\数学模型电子教案\shuxuemoxing.pot</Template>
  <TotalTime>14109</TotalTime>
  <Words>1595</Words>
  <Application>Microsoft Office PowerPoint</Application>
  <PresentationFormat>全屏显示(4:3)</PresentationFormat>
  <Paragraphs>454</Paragraphs>
  <Slides>20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楷体</vt:lpstr>
      <vt:lpstr>楷体_GB2312</vt:lpstr>
      <vt:lpstr>隶书</vt:lpstr>
      <vt:lpstr>宋体</vt:lpstr>
      <vt:lpstr>Arial</vt:lpstr>
      <vt:lpstr>Calibri</vt:lpstr>
      <vt:lpstr>Cambria Math</vt:lpstr>
      <vt:lpstr>Symbol</vt:lpstr>
      <vt:lpstr>Times New Roman</vt:lpstr>
      <vt:lpstr>shuxuemoxing</vt:lpstr>
      <vt:lpstr>Clip</vt:lpstr>
      <vt:lpstr>文档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Jiang</dc:creator>
  <cp:lastModifiedBy>ad</cp:lastModifiedBy>
  <cp:revision>303</cp:revision>
  <dcterms:created xsi:type="dcterms:W3CDTF">2000-03-03T01:25:05Z</dcterms:created>
  <dcterms:modified xsi:type="dcterms:W3CDTF">2025-04-08T07:20:23Z</dcterms:modified>
</cp:coreProperties>
</file>