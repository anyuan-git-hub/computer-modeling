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9" r:id="rId1"/>
  </p:sldMasterIdLst>
  <p:notesMasterIdLst>
    <p:notesMasterId r:id="rId12"/>
  </p:notesMasterIdLst>
  <p:sldIdLst>
    <p:sldId id="339" r:id="rId2"/>
    <p:sldId id="368" r:id="rId3"/>
    <p:sldId id="372" r:id="rId4"/>
    <p:sldId id="340" r:id="rId5"/>
    <p:sldId id="370" r:id="rId6"/>
    <p:sldId id="371" r:id="rId7"/>
    <p:sldId id="375" r:id="rId8"/>
    <p:sldId id="374" r:id="rId9"/>
    <p:sldId id="376" r:id="rId10"/>
    <p:sldId id="377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FFCCFF"/>
    <a:srgbClr val="FFFF00"/>
    <a:srgbClr val="99FFCC"/>
    <a:srgbClr val="FFFF66"/>
    <a:srgbClr val="FF99FF"/>
    <a:srgbClr val="FFCC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94618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13.wmf"/><Relationship Id="rId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5662D-04B4-4219-93F9-82B4D7B30E34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284C8-4EB0-4177-8BB9-7071BA2BF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76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284C8-4EB0-4177-8BB9-7071BA2BF70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735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284C8-4EB0-4177-8BB9-7071BA2BF7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73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284C8-4EB0-4177-8BB9-7071BA2BF7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85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284C8-4EB0-4177-8BB9-7071BA2BF70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026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12824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4358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055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3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378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9073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4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445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785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84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994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11" descr="K1.jp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图片 12" descr="K2.jp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图片 13" descr="K3.jpg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4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9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9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29" Type="http://schemas.openxmlformats.org/officeDocument/2006/relationships/image" Target="../media/image33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26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28.bin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3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13.wmf"/><Relationship Id="rId3" Type="http://schemas.openxmlformats.org/officeDocument/2006/relationships/image" Target="../media/image38.e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69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75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7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078138" y="420097"/>
            <a:ext cx="6268036" cy="646331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 dirty="0">
                <a:latin typeface="+mj-lt"/>
                <a:ea typeface="隶书" panose="02010509060101010101" pitchFamily="49" charset="-122"/>
              </a:rPr>
              <a:t>	</a:t>
            </a:r>
            <a:r>
              <a:rPr lang="zh-CN" altLang="en-US" sz="3600" b="1" dirty="0">
                <a:latin typeface="+mj-lt"/>
                <a:ea typeface="隶书" panose="02010509060101010101" pitchFamily="49" charset="-122"/>
              </a:rPr>
              <a:t>统计模型</a:t>
            </a:r>
            <a:r>
              <a:rPr lang="en-US" altLang="zh-CN" sz="3600" b="1" dirty="0">
                <a:latin typeface="+mj-lt"/>
                <a:ea typeface="隶书" panose="02010509060101010101" pitchFamily="49" charset="-122"/>
              </a:rPr>
              <a:t>---</a:t>
            </a:r>
            <a:r>
              <a:rPr lang="zh-CN" altLang="en-US" sz="3600" b="1" dirty="0">
                <a:latin typeface="+mj-lt"/>
                <a:ea typeface="隶书" panose="02010509060101010101" pitchFamily="49" charset="-122"/>
              </a:rPr>
              <a:t>蠓虫分类问题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27394"/>
              </p:ext>
            </p:extLst>
          </p:nvPr>
        </p:nvGraphicFramePr>
        <p:xfrm>
          <a:off x="1073645" y="3579832"/>
          <a:ext cx="7674819" cy="3017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8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96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3838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rgbClr val="002060"/>
                          </a:solidFill>
                          <a:effectLst/>
                        </a:rPr>
                        <a:t>Apf</a:t>
                      </a:r>
                      <a:r>
                        <a:rPr lang="en-US" sz="1800" b="1" kern="100" dirty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zh-CN" sz="1800" b="1" kern="100" dirty="0">
                          <a:solidFill>
                            <a:srgbClr val="002060"/>
                          </a:solidFill>
                          <a:effectLst/>
                        </a:rPr>
                        <a:t>蠓虫</a:t>
                      </a:r>
                      <a:r>
                        <a:rPr lang="zh-CN" altLang="en-US" sz="1800" b="1" kern="100" dirty="0">
                          <a:solidFill>
                            <a:srgbClr val="002060"/>
                          </a:solidFill>
                          <a:effectLst/>
                        </a:rPr>
                        <a:t>样本</a:t>
                      </a:r>
                      <a:endParaRPr lang="zh-CN" sz="1800" b="1" kern="100" dirty="0">
                        <a:solidFill>
                          <a:srgbClr val="00206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rgbClr val="002060"/>
                          </a:solidFill>
                          <a:effectLst/>
                        </a:rPr>
                        <a:t>Af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</a:rPr>
                        <a:t>蠓虫</a:t>
                      </a:r>
                      <a:r>
                        <a:rPr lang="zh-CN" altLang="en-US" sz="1800" kern="100" dirty="0">
                          <a:solidFill>
                            <a:srgbClr val="002060"/>
                          </a:solidFill>
                          <a:effectLst/>
                        </a:rPr>
                        <a:t>样本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待判</a:t>
                      </a:r>
                      <a:r>
                        <a:rPr lang="zh-CN" alt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蠓虫样本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触角长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翅长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</a:rPr>
                        <a:t>触角长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翅长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effectLst/>
                        </a:rPr>
                        <a:t>触角长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翅长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1.14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1.78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1.24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effectLst/>
                        </a:rPr>
                        <a:t>1.24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1.18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1.96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1.36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1.74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effectLst/>
                        </a:rPr>
                        <a:t>1.29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1.81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1.20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1.86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1.64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effectLst/>
                        </a:rPr>
                        <a:t>1.43</a:t>
                      </a:r>
                      <a:endParaRPr lang="zh-CN" sz="1800" b="1" kern="1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2.03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1.26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1.28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1.38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1.90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1.30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1.96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1.40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1.70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1.48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1.54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1.82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effectLst/>
                        </a:rPr>
                        <a:t>1.56</a:t>
                      </a:r>
                      <a:endParaRPr lang="zh-CN" sz="1800" b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2.08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accent6"/>
                          </a:solidFill>
                          <a:effectLst/>
                        </a:rPr>
                        <a:t> 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20278" y="3663022"/>
            <a:ext cx="923330" cy="2286258"/>
          </a:xfrm>
          <a:prstGeom prst="rect">
            <a:avLst/>
          </a:prstGeom>
          <a:solidFill>
            <a:srgbClr val="FFCCFF"/>
          </a:solidFill>
        </p:spPr>
        <p:txBody>
          <a:bodyPr vert="eaVert" wrap="square">
            <a:spAutoFit/>
          </a:bodyPr>
          <a:lstStyle/>
          <a:p>
            <a:r>
              <a:rPr lang="zh-CN" altLang="en-US" b="1" dirty="0"/>
              <a:t>已知蠓虫和待判蠓虫的样本数据</a:t>
            </a:r>
          </a:p>
        </p:txBody>
      </p:sp>
      <p:sp>
        <p:nvSpPr>
          <p:cNvPr id="8" name="矩形 7"/>
          <p:cNvSpPr/>
          <p:nvPr/>
        </p:nvSpPr>
        <p:spPr>
          <a:xfrm>
            <a:off x="1115616" y="1196752"/>
            <a:ext cx="75608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已知</a:t>
            </a:r>
            <a:r>
              <a:rPr lang="en-US" altLang="zh-CN" sz="2800" b="1" dirty="0"/>
              <a:t>6</a:t>
            </a:r>
            <a:r>
              <a:rPr lang="zh-CN" altLang="zh-CN" sz="2800" b="1" dirty="0"/>
              <a:t>个</a:t>
            </a:r>
            <a:r>
              <a:rPr lang="en-US" altLang="zh-CN" sz="2800" b="1" dirty="0" err="1"/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蠓虫与</a:t>
            </a:r>
            <a:r>
              <a:rPr lang="en-US" altLang="zh-CN" sz="2800" b="1" dirty="0"/>
              <a:t>9</a:t>
            </a:r>
            <a:r>
              <a:rPr lang="zh-CN" altLang="zh-CN" sz="2800" b="1" dirty="0"/>
              <a:t>个</a:t>
            </a:r>
            <a:r>
              <a:rPr lang="en-US" altLang="zh-CN" sz="2800" b="1" dirty="0" err="1"/>
              <a:t>Af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蠓虫的触角长和翅长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根据样本数据</a:t>
            </a:r>
            <a:r>
              <a:rPr lang="zh-CN" altLang="zh-CN" sz="2800" b="1" dirty="0">
                <a:solidFill>
                  <a:srgbClr val="FF0000"/>
                </a:solidFill>
              </a:rPr>
              <a:t>建立模型</a:t>
            </a:r>
            <a:r>
              <a:rPr lang="zh-CN" altLang="zh-CN" sz="2800" b="1" dirty="0"/>
              <a:t>，</a:t>
            </a:r>
            <a:r>
              <a:rPr lang="zh-CN" altLang="en-US" sz="2800" b="1" dirty="0"/>
              <a:t>正确</a:t>
            </a:r>
            <a:r>
              <a:rPr lang="zh-CN" altLang="zh-CN" sz="2800" b="1" dirty="0">
                <a:solidFill>
                  <a:srgbClr val="FF0000"/>
                </a:solidFill>
              </a:rPr>
              <a:t>区分</a:t>
            </a:r>
            <a:r>
              <a:rPr lang="zh-CN" altLang="en-US" sz="2800" b="1" dirty="0">
                <a:solidFill>
                  <a:srgbClr val="FF0000"/>
                </a:solidFill>
              </a:rPr>
              <a:t>这</a:t>
            </a:r>
            <a:r>
              <a:rPr lang="zh-CN" altLang="zh-CN" sz="2800" b="1" dirty="0">
                <a:solidFill>
                  <a:srgbClr val="FF0000"/>
                </a:solidFill>
              </a:rPr>
              <a:t>两类蠓虫</a:t>
            </a:r>
            <a:r>
              <a:rPr lang="zh-CN" altLang="zh-CN" sz="2800" b="1" dirty="0"/>
              <a:t>； 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1115616" y="2132856"/>
            <a:ext cx="7527888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zh-CN" altLang="zh-CN" sz="2800" b="1" dirty="0"/>
              <a:t>用模型</a:t>
            </a:r>
            <a:r>
              <a:rPr lang="zh-CN" altLang="zh-CN" sz="2800" b="1" dirty="0">
                <a:solidFill>
                  <a:srgbClr val="FF0000"/>
                </a:solidFill>
              </a:rPr>
              <a:t>识别</a:t>
            </a:r>
            <a:r>
              <a:rPr lang="zh-CN" altLang="zh-CN" sz="2800" b="1" dirty="0"/>
              <a:t>已知触角长和翅长的</a:t>
            </a:r>
            <a:r>
              <a:rPr lang="en-US" altLang="zh-CN" sz="2800" b="1" dirty="0"/>
              <a:t>3</a:t>
            </a:r>
            <a:r>
              <a:rPr lang="zh-CN" altLang="zh-CN" sz="2800" b="1" dirty="0"/>
              <a:t>个</a:t>
            </a:r>
            <a:r>
              <a:rPr lang="zh-CN" altLang="zh-CN" sz="2800" b="1" dirty="0">
                <a:solidFill>
                  <a:srgbClr val="FF0000"/>
                </a:solidFill>
              </a:rPr>
              <a:t>待判蠓虫</a:t>
            </a:r>
            <a:r>
              <a:rPr lang="zh-CN" altLang="zh-CN" sz="2800" b="1" dirty="0"/>
              <a:t>；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04800" y="1484784"/>
            <a:ext cx="609600" cy="1066800"/>
          </a:xfrm>
          <a:prstGeom prst="rect">
            <a:avLst/>
          </a:prstGeom>
          <a:solidFill>
            <a:srgbClr val="FFCC99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问题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115616" y="2636912"/>
            <a:ext cx="75608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sz="2800" b="1" dirty="0"/>
              <a:t>如果</a:t>
            </a:r>
            <a:r>
              <a:rPr lang="en-US" altLang="zh-CN" sz="2800" b="1" dirty="0" err="1">
                <a:solidFill>
                  <a:srgbClr val="FF0000"/>
                </a:solidFill>
              </a:rPr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蠓虫是某种疾病的载体</a:t>
            </a:r>
            <a:r>
              <a:rPr lang="zh-CN" altLang="zh-CN" sz="2800" b="1" dirty="0">
                <a:solidFill>
                  <a:srgbClr val="FF0000"/>
                </a:solidFill>
              </a:rPr>
              <a:t>毒蠓</a:t>
            </a:r>
            <a:r>
              <a:rPr lang="zh-CN" altLang="zh-CN" sz="2800" b="1" dirty="0"/>
              <a:t>，</a:t>
            </a:r>
            <a:r>
              <a:rPr lang="en-US" altLang="zh-CN" sz="2800" b="1" dirty="0" err="1">
                <a:solidFill>
                  <a:srgbClr val="FF0000"/>
                </a:solidFill>
              </a:rPr>
              <a:t>Af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dirty="0"/>
              <a:t>蠓虫是传粉</a:t>
            </a:r>
            <a:r>
              <a:rPr lang="zh-CN" altLang="zh-CN" sz="2800" b="1" dirty="0">
                <a:solidFill>
                  <a:srgbClr val="FF0000"/>
                </a:solidFill>
              </a:rPr>
              <a:t>益蠓</a:t>
            </a:r>
            <a:r>
              <a:rPr lang="zh-CN" altLang="zh-CN" sz="2800" b="1" dirty="0"/>
              <a:t>，</a:t>
            </a:r>
            <a:r>
              <a:rPr lang="zh-CN" altLang="zh-CN" sz="2800" b="1" dirty="0">
                <a:solidFill>
                  <a:srgbClr val="FF0000"/>
                </a:solidFill>
              </a:rPr>
              <a:t>修改分类</a:t>
            </a:r>
            <a:r>
              <a:rPr lang="zh-CN" altLang="en-US" sz="2800" b="1" dirty="0">
                <a:solidFill>
                  <a:srgbClr val="FF0000"/>
                </a:solidFill>
              </a:rPr>
              <a:t>判别</a:t>
            </a:r>
            <a:r>
              <a:rPr lang="zh-CN" altLang="zh-CN" sz="2800" b="1" dirty="0">
                <a:solidFill>
                  <a:srgbClr val="FF0000"/>
                </a:solidFill>
              </a:rPr>
              <a:t>方法</a:t>
            </a:r>
            <a:r>
              <a:rPr lang="zh-CN" altLang="en-US" sz="2800" b="1" dirty="0"/>
              <a:t>再进行识别。</a:t>
            </a:r>
            <a:endParaRPr lang="zh-CN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91378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 autoUpdateAnimBg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76362" y="571783"/>
            <a:ext cx="1832553" cy="5847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问题分析</a:t>
            </a:r>
          </a:p>
        </p:txBody>
      </p:sp>
      <p:pic>
        <p:nvPicPr>
          <p:cNvPr id="11" name="图片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300" y="985113"/>
            <a:ext cx="3672408" cy="3019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/>
        </p:nvSpPr>
        <p:spPr>
          <a:xfrm>
            <a:off x="304800" y="1268760"/>
            <a:ext cx="54913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   </a:t>
            </a:r>
            <a:r>
              <a:rPr lang="en-US" altLang="zh-CN" sz="2800" b="1" dirty="0" err="1"/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蠓虫数据点集中在图左上方</a:t>
            </a:r>
            <a:endParaRPr lang="zh-CN" altLang="en-US" sz="2800" b="1" dirty="0"/>
          </a:p>
        </p:txBody>
      </p:sp>
      <p:sp>
        <p:nvSpPr>
          <p:cNvPr id="13" name="矩形 12"/>
          <p:cNvSpPr/>
          <p:nvPr/>
        </p:nvSpPr>
        <p:spPr>
          <a:xfrm>
            <a:off x="469500" y="1791980"/>
            <a:ext cx="55446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   </a:t>
            </a:r>
            <a:r>
              <a:rPr lang="en-US" altLang="zh-CN" sz="2800" b="1" dirty="0" err="1">
                <a:solidFill>
                  <a:srgbClr val="FF0000"/>
                </a:solidFill>
              </a:rPr>
              <a:t>Af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</a:rPr>
              <a:t>蠓虫</a:t>
            </a:r>
            <a:r>
              <a:rPr lang="zh-CN" altLang="zh-CN" sz="2800" b="1" dirty="0"/>
              <a:t>数据点集中在图右下方</a:t>
            </a:r>
            <a:endParaRPr lang="zh-CN" altLang="en-US" sz="2800" b="1" dirty="0"/>
          </a:p>
        </p:txBody>
      </p:sp>
      <p:sp>
        <p:nvSpPr>
          <p:cNvPr id="15" name="矩形 14"/>
          <p:cNvSpPr/>
          <p:nvPr/>
        </p:nvSpPr>
        <p:spPr>
          <a:xfrm>
            <a:off x="526551" y="2348880"/>
            <a:ext cx="5269585" cy="1076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800" b="1" dirty="0"/>
              <a:t>找</a:t>
            </a:r>
            <a:r>
              <a:rPr lang="zh-CN" altLang="zh-CN" sz="2800" b="1" dirty="0">
                <a:solidFill>
                  <a:srgbClr val="FF0000"/>
                </a:solidFill>
              </a:rPr>
              <a:t>一条直线</a:t>
            </a:r>
            <a:r>
              <a:rPr lang="zh-CN" altLang="zh-CN" sz="2800" b="1" dirty="0"/>
              <a:t>把两类点分开，作为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蠓虫和</a:t>
            </a:r>
            <a:r>
              <a:rPr lang="en-US" altLang="zh-CN" sz="2800" b="1" dirty="0"/>
              <a:t> </a:t>
            </a:r>
            <a:r>
              <a:rPr lang="en-US" altLang="zh-CN" sz="2800" b="1" dirty="0" err="1"/>
              <a:t>Af</a:t>
            </a:r>
            <a:r>
              <a:rPr lang="en-US" altLang="zh-CN" sz="2800" b="1" dirty="0"/>
              <a:t> </a:t>
            </a:r>
            <a:r>
              <a:rPr lang="zh-CN" altLang="zh-CN" sz="2800" b="1" dirty="0"/>
              <a:t>蠓虫的</a:t>
            </a:r>
            <a:r>
              <a:rPr lang="zh-CN" altLang="zh-CN" sz="2800" b="1" dirty="0">
                <a:solidFill>
                  <a:srgbClr val="FF0000"/>
                </a:solidFill>
              </a:rPr>
              <a:t>分界线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26" name="矩形 25"/>
          <p:cNvSpPr/>
          <p:nvPr/>
        </p:nvSpPr>
        <p:spPr>
          <a:xfrm>
            <a:off x="379529" y="3573016"/>
            <a:ext cx="288252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b="1" dirty="0" err="1"/>
              <a:t>Apf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</a:t>
            </a:r>
            <a:r>
              <a:rPr lang="en-US" altLang="zh-CN" sz="2800" b="1" dirty="0"/>
              <a:t>~</a:t>
            </a:r>
            <a:r>
              <a:rPr lang="zh-CN" altLang="en-US" sz="2800" b="1" dirty="0"/>
              <a:t>总体</a:t>
            </a:r>
            <a:r>
              <a:rPr lang="en-US" altLang="zh-CN" sz="2800" b="1" i="1" dirty="0"/>
              <a:t>G</a:t>
            </a:r>
            <a:r>
              <a:rPr lang="en-US" altLang="zh-CN" sz="2800" b="1" baseline="-25000" dirty="0"/>
              <a:t>1</a:t>
            </a:r>
            <a:endParaRPr lang="zh-CN" altLang="en-US" sz="2800" b="1" dirty="0"/>
          </a:p>
        </p:txBody>
      </p:sp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Rectangle 21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317824" y="3573016"/>
            <a:ext cx="2696291" cy="52322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 err="1"/>
              <a:t>Af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蠓虫</a:t>
            </a:r>
            <a:r>
              <a:rPr lang="en-US" altLang="zh-CN" sz="2800" b="1" dirty="0"/>
              <a:t>~</a:t>
            </a:r>
            <a:r>
              <a:rPr lang="zh-CN" altLang="en-US" sz="2800" b="1" dirty="0"/>
              <a:t>总体</a:t>
            </a:r>
            <a:r>
              <a:rPr lang="en-US" altLang="zh-CN" sz="2800" b="1" i="1" dirty="0"/>
              <a:t>G</a:t>
            </a:r>
            <a:r>
              <a:rPr lang="en-US" altLang="zh-CN" sz="2800" b="1" baseline="-25000" dirty="0"/>
              <a:t>2</a:t>
            </a:r>
            <a:endParaRPr lang="zh-CN" altLang="en-US" sz="2800" b="1" dirty="0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424283"/>
              </p:ext>
            </p:extLst>
          </p:nvPr>
        </p:nvGraphicFramePr>
        <p:xfrm>
          <a:off x="6732240" y="3933056"/>
          <a:ext cx="1959845" cy="48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8" name="Equation" r:id="rId5" imgW="927100" imgH="228600" progId="Equation.DSMT4">
                  <p:embed/>
                </p:oleObj>
              </mc:Choice>
              <mc:Fallback>
                <p:oleObj name="Equation" r:id="rId5" imgW="927100" imgH="228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3933056"/>
                        <a:ext cx="1959845" cy="4849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726726"/>
              </p:ext>
            </p:extLst>
          </p:nvPr>
        </p:nvGraphicFramePr>
        <p:xfrm>
          <a:off x="2302806" y="5733256"/>
          <a:ext cx="4354308" cy="660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9" name="Equation" r:id="rId7" imgW="1968480" imgH="291960" progId="Equation.DSMT4">
                  <p:embed/>
                </p:oleObj>
              </mc:Choice>
              <mc:Fallback>
                <p:oleObj name="Equation" r:id="rId7" imgW="1968480" imgH="29196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806" y="5733256"/>
                        <a:ext cx="4354308" cy="66035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4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983664"/>
              </p:ext>
            </p:extLst>
          </p:nvPr>
        </p:nvGraphicFramePr>
        <p:xfrm>
          <a:off x="379529" y="4272587"/>
          <a:ext cx="5634585" cy="50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0" name="Equation" r:id="rId9" imgW="2514600" imgH="228600" progId="Equation.DSMT4">
                  <p:embed/>
                </p:oleObj>
              </mc:Choice>
              <mc:Fallback>
                <p:oleObj name="Equation" r:id="rId9" imgW="251460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29" y="4272587"/>
                        <a:ext cx="5634585" cy="5093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312423"/>
              </p:ext>
            </p:extLst>
          </p:nvPr>
        </p:nvGraphicFramePr>
        <p:xfrm>
          <a:off x="7020272" y="5013176"/>
          <a:ext cx="150188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1" name="Equation" r:id="rId11" imgW="698197" imgH="203112" progId="Equation.DSMT4">
                  <p:embed/>
                </p:oleObj>
              </mc:Choice>
              <mc:Fallback>
                <p:oleObj name="Equation" r:id="rId11" imgW="698197" imgH="203112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5013176"/>
                        <a:ext cx="1501881" cy="43204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6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652430"/>
              </p:ext>
            </p:extLst>
          </p:nvPr>
        </p:nvGraphicFramePr>
        <p:xfrm>
          <a:off x="6804248" y="4437112"/>
          <a:ext cx="1816284" cy="480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2" name="Equation" r:id="rId13" imgW="825142" imgH="215806" progId="Equation.DSMT4">
                  <p:embed/>
                </p:oleObj>
              </mc:Choice>
              <mc:Fallback>
                <p:oleObj name="Equation" r:id="rId13" imgW="825142" imgH="215806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4437112"/>
                        <a:ext cx="1816284" cy="48016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7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6" name="对象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748226"/>
              </p:ext>
            </p:extLst>
          </p:nvPr>
        </p:nvGraphicFramePr>
        <p:xfrm>
          <a:off x="844550" y="5013325"/>
          <a:ext cx="60467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3" name="Equation" r:id="rId15" imgW="2743200" imgH="228600" progId="Equation.DSMT4">
                  <p:embed/>
                </p:oleObj>
              </mc:Choice>
              <mc:Fallback>
                <p:oleObj name="Equation" r:id="rId15" imgW="2743200" imgH="228600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5013325"/>
                        <a:ext cx="6046788" cy="50323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矩形 66"/>
          <p:cNvSpPr/>
          <p:nvPr/>
        </p:nvSpPr>
        <p:spPr>
          <a:xfrm>
            <a:off x="2771800" y="602560"/>
            <a:ext cx="3416320" cy="52322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属于两总体判别问题</a:t>
            </a:r>
          </a:p>
        </p:txBody>
      </p:sp>
    </p:spTree>
    <p:extLst>
      <p:ext uri="{BB962C8B-B14F-4D97-AF65-F5344CB8AC3E}">
        <p14:creationId xmlns:p14="http://schemas.microsoft.com/office/powerpoint/2010/main" val="43370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26" grpId="0" animBg="1"/>
      <p:bldP spid="40" grpId="0" animBg="1"/>
      <p:bldP spid="6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Rectangle 21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243752" y="548680"/>
            <a:ext cx="2656496" cy="584775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CN" altLang="zh-CN" sz="3200" b="1" dirty="0"/>
              <a:t>距离判别模型</a:t>
            </a:r>
            <a:endParaRPr lang="zh-CN" altLang="en-US" sz="3200" dirty="0"/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0" y="1085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069148"/>
              </p:ext>
            </p:extLst>
          </p:nvPr>
        </p:nvGraphicFramePr>
        <p:xfrm>
          <a:off x="1059028" y="3068960"/>
          <a:ext cx="4071300" cy="76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64" name="Equation" r:id="rId4" imgW="2032000" imgH="393700" progId="Equation.DSMT4">
                  <p:embed/>
                </p:oleObj>
              </mc:Choice>
              <mc:Fallback>
                <p:oleObj name="Equation" r:id="rId4" imgW="20320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028" y="3068960"/>
                        <a:ext cx="4071300" cy="7645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551560"/>
              </p:ext>
            </p:extLst>
          </p:nvPr>
        </p:nvGraphicFramePr>
        <p:xfrm>
          <a:off x="3491880" y="3933056"/>
          <a:ext cx="3339913" cy="1013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65" name="Equation" r:id="rId6" imgW="1600200" imgH="482600" progId="Equation.DSMT4">
                  <p:embed/>
                </p:oleObj>
              </mc:Choice>
              <mc:Fallback>
                <p:oleObj name="Equation" r:id="rId6" imgW="16002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933056"/>
                        <a:ext cx="3339913" cy="101390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4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6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55576" y="1268760"/>
            <a:ext cx="906017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原理</a:t>
            </a:r>
          </a:p>
        </p:txBody>
      </p:sp>
      <p:sp>
        <p:nvSpPr>
          <p:cNvPr id="58" name="Rectangle 7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414546"/>
              </p:ext>
            </p:extLst>
          </p:nvPr>
        </p:nvGraphicFramePr>
        <p:xfrm>
          <a:off x="815579" y="2470324"/>
          <a:ext cx="5477384" cy="526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66" name="Equation" r:id="rId8" imgW="2476440" imgH="241200" progId="Equation.DSMT4">
                  <p:embed/>
                </p:oleObj>
              </mc:Choice>
              <mc:Fallback>
                <p:oleObj name="Equation" r:id="rId8" imgW="2476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579" y="2470324"/>
                        <a:ext cx="5477384" cy="5266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7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60012"/>
              </p:ext>
            </p:extLst>
          </p:nvPr>
        </p:nvGraphicFramePr>
        <p:xfrm>
          <a:off x="6382189" y="2477580"/>
          <a:ext cx="2510292" cy="519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67" name="Equation" r:id="rId10" imgW="1104900" imgH="228600" progId="Equation.DSMT4">
                  <p:embed/>
                </p:oleObj>
              </mc:Choice>
              <mc:Fallback>
                <p:oleObj name="Equation" r:id="rId10" imgW="1104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2189" y="2477580"/>
                        <a:ext cx="2510292" cy="5193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/>
          <p:cNvSpPr/>
          <p:nvPr/>
        </p:nvSpPr>
        <p:spPr>
          <a:xfrm>
            <a:off x="1863036" y="1268760"/>
            <a:ext cx="2492940" cy="5232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距离就近原则</a:t>
            </a:r>
          </a:p>
        </p:txBody>
      </p:sp>
      <p:sp>
        <p:nvSpPr>
          <p:cNvPr id="63" name="矩形 62"/>
          <p:cNvSpPr/>
          <p:nvPr/>
        </p:nvSpPr>
        <p:spPr>
          <a:xfrm>
            <a:off x="852175" y="4178397"/>
            <a:ext cx="2339102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距离</a:t>
            </a:r>
            <a:r>
              <a:rPr lang="zh-CN" altLang="zh-CN" sz="2800" b="1" dirty="0"/>
              <a:t>判别准则</a:t>
            </a:r>
            <a:endParaRPr lang="zh-CN" altLang="en-US" sz="2800" b="1" dirty="0"/>
          </a:p>
        </p:txBody>
      </p:sp>
      <p:sp>
        <p:nvSpPr>
          <p:cNvPr id="67" name="Text Box 16"/>
          <p:cNvSpPr txBox="1">
            <a:spLocks noChangeArrowheads="1"/>
          </p:cNvSpPr>
          <p:nvPr/>
        </p:nvSpPr>
        <p:spPr bwMode="auto">
          <a:xfrm>
            <a:off x="5364088" y="3189632"/>
            <a:ext cx="2520280" cy="52322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latin typeface="Arial" charset="0"/>
              </a:rPr>
              <a:t>距离判别函数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431516" y="5085184"/>
            <a:ext cx="3078601" cy="523220"/>
            <a:chOff x="2431516" y="5085184"/>
            <a:chExt cx="3078601" cy="523220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0436763"/>
                </p:ext>
              </p:extLst>
            </p:nvPr>
          </p:nvGraphicFramePr>
          <p:xfrm>
            <a:off x="2915816" y="5085184"/>
            <a:ext cx="2594301" cy="523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568" name="Equation" r:id="rId12" imgW="1130300" imgH="228600" progId="Equation.DSMT4">
                    <p:embed/>
                  </p:oleObj>
                </mc:Choice>
                <mc:Fallback>
                  <p:oleObj name="Equation" r:id="rId12" imgW="1130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5085184"/>
                          <a:ext cx="2594301" cy="523220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chemeClr val="accent1">
                                <a:tint val="66000"/>
                                <a:satMod val="160000"/>
                              </a:schemeClr>
                            </a:gs>
                            <a:gs pos="50000">
                              <a:schemeClr val="accent1">
                                <a:tint val="44500"/>
                                <a:satMod val="160000"/>
                              </a:schemeClr>
                            </a:gs>
                            <a:gs pos="100000">
                              <a:schemeClr val="accent1">
                                <a:tint val="23500"/>
                                <a:satMod val="160000"/>
                              </a:schemeClr>
                            </a:gs>
                          </a:gsLst>
                          <a:lin ang="5400000" scaled="0"/>
                        </a:gra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右箭头 3"/>
            <p:cNvSpPr/>
            <p:nvPr/>
          </p:nvSpPr>
          <p:spPr bwMode="auto">
            <a:xfrm>
              <a:off x="2431516" y="5195591"/>
              <a:ext cx="402344" cy="30240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5658101" y="5085184"/>
            <a:ext cx="3057529" cy="52322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Arial" charset="0"/>
              </a:rPr>
              <a:t>线性距离判别函数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898094" y="5608404"/>
            <a:ext cx="4554451" cy="912175"/>
            <a:chOff x="1898094" y="5608404"/>
            <a:chExt cx="4554451" cy="912175"/>
          </a:xfrm>
        </p:grpSpPr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4030585"/>
                </p:ext>
              </p:extLst>
            </p:nvPr>
          </p:nvGraphicFramePr>
          <p:xfrm>
            <a:off x="1898094" y="5661248"/>
            <a:ext cx="4554451" cy="859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569" name="Equation" r:id="rId14" imgW="2019300" imgH="393700" progId="Equation.DSMT4">
                    <p:embed/>
                  </p:oleObj>
                </mc:Choice>
                <mc:Fallback>
                  <p:oleObj name="Equation" r:id="rId14" imgW="20193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094" y="5661248"/>
                          <a:ext cx="4554451" cy="85933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上箭头 4"/>
            <p:cNvSpPr/>
            <p:nvPr/>
          </p:nvSpPr>
          <p:spPr bwMode="auto">
            <a:xfrm>
              <a:off x="3733354" y="5608404"/>
              <a:ext cx="242316" cy="268868"/>
            </a:xfrm>
            <a:prstGeom prst="up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626639"/>
              </p:ext>
            </p:extLst>
          </p:nvPr>
        </p:nvGraphicFramePr>
        <p:xfrm>
          <a:off x="4572001" y="1268760"/>
          <a:ext cx="3888432" cy="589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70" name="Equation" r:id="rId16" imgW="1968480" imgH="291960" progId="Equation.DSMT4">
                  <p:embed/>
                </p:oleObj>
              </mc:Choice>
              <mc:Fallback>
                <p:oleObj name="Equation" r:id="rId16" imgW="1968480" imgH="291960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268760"/>
                        <a:ext cx="3888432" cy="589929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876962" y="1897668"/>
            <a:ext cx="5567246" cy="527576"/>
            <a:chOff x="876962" y="1897668"/>
            <a:chExt cx="5567246" cy="527576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7671008"/>
                </p:ext>
              </p:extLst>
            </p:nvPr>
          </p:nvGraphicFramePr>
          <p:xfrm>
            <a:off x="3599202" y="1935996"/>
            <a:ext cx="2759356" cy="489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571" name="Equation" r:id="rId18" imgW="1346200" imgH="241300" progId="Equation.DSMT4">
                    <p:embed/>
                  </p:oleObj>
                </mc:Choice>
                <mc:Fallback>
                  <p:oleObj name="Equation" r:id="rId18" imgW="1346200" imgH="241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9202" y="1935996"/>
                          <a:ext cx="2759356" cy="4892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/>
            <p:cNvSpPr txBox="1"/>
            <p:nvPr/>
          </p:nvSpPr>
          <p:spPr>
            <a:xfrm>
              <a:off x="876962" y="1897668"/>
              <a:ext cx="5567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对于样本 </a:t>
              </a:r>
              <a:r>
                <a:rPr lang="en-US" altLang="zh-CN" sz="2800" b="1" i="1" dirty="0"/>
                <a:t>x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计算</a:t>
              </a:r>
            </a:p>
          </p:txBody>
        </p:sp>
      </p:grpSp>
      <p:sp>
        <p:nvSpPr>
          <p:cNvPr id="11" name="Rectangle 13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980862"/>
              </p:ext>
            </p:extLst>
          </p:nvPr>
        </p:nvGraphicFramePr>
        <p:xfrm>
          <a:off x="839576" y="5127241"/>
          <a:ext cx="1644033" cy="439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72" name="Equation" r:id="rId20" imgW="990170" imgH="266584" progId="Equation.DSMT4">
                  <p:embed/>
                </p:oleObj>
              </mc:Choice>
              <mc:Fallback>
                <p:oleObj name="Equation" r:id="rId20" imgW="990170" imgH="266584" progId="Equation.DSMT4">
                  <p:embed/>
                  <p:pic>
                    <p:nvPicPr>
                      <p:cNvPr id="0" name="Object 1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576" y="5127241"/>
                        <a:ext cx="1644033" cy="4391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316"/>
          <p:cNvSpPr>
            <a:spLocks noChangeArrowheads="1"/>
          </p:cNvSpPr>
          <p:nvPr/>
        </p:nvSpPr>
        <p:spPr bwMode="auto">
          <a:xfrm>
            <a:off x="0" y="266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44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62" grpId="0" animBg="1"/>
      <p:bldP spid="63" grpId="0" animBg="1"/>
      <p:bldP spid="67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23529" y="548680"/>
            <a:ext cx="1633462" cy="95410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估计与</a:t>
            </a:r>
            <a:endParaRPr lang="en-US" altLang="zh-CN" sz="2800" b="1" dirty="0">
              <a:latin typeface="+mj-ea"/>
              <a:ea typeface="+mj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假设检验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773555"/>
              </p:ext>
            </p:extLst>
          </p:nvPr>
        </p:nvGraphicFramePr>
        <p:xfrm>
          <a:off x="1975075" y="773705"/>
          <a:ext cx="3381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7" name="Equation" r:id="rId4" imgW="1524000" imgH="228600" progId="Equation.DSMT4">
                  <p:embed/>
                </p:oleObj>
              </mc:Choice>
              <mc:Fallback>
                <p:oleObj name="Equation" r:id="rId4" imgW="15240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5075" y="773705"/>
                        <a:ext cx="3381376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21351"/>
              </p:ext>
            </p:extLst>
          </p:nvPr>
        </p:nvGraphicFramePr>
        <p:xfrm>
          <a:off x="5508104" y="764704"/>
          <a:ext cx="3434736" cy="49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8" name="Equation" r:id="rId6" imgW="1574640" imgH="228600" progId="Equation.DSMT4">
                  <p:embed/>
                </p:oleObj>
              </mc:Choice>
              <mc:Fallback>
                <p:oleObj name="Equation" r:id="rId6" imgW="1574640" imgH="228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764704"/>
                        <a:ext cx="3434736" cy="495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68122"/>
              </p:ext>
            </p:extLst>
          </p:nvPr>
        </p:nvGraphicFramePr>
        <p:xfrm>
          <a:off x="455017" y="1772815"/>
          <a:ext cx="1643792" cy="57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9" name="Equation" r:id="rId8" imgW="634680" imgH="228600" progId="Equation.DSMT4">
                  <p:embed/>
                </p:oleObj>
              </mc:Choice>
              <mc:Fallback>
                <p:oleObj name="Equation" r:id="rId8" imgW="63468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17" y="1772815"/>
                        <a:ext cx="1643792" cy="57606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449289"/>
              </p:ext>
            </p:extLst>
          </p:nvPr>
        </p:nvGraphicFramePr>
        <p:xfrm>
          <a:off x="2242970" y="1556792"/>
          <a:ext cx="2359763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0" name="Equation" r:id="rId10" imgW="1358900" imgH="457200" progId="Equation.DSMT4">
                  <p:embed/>
                </p:oleObj>
              </mc:Choice>
              <mc:Fallback>
                <p:oleObj name="Equation" r:id="rId10" imgW="135890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970" y="1556792"/>
                        <a:ext cx="2359763" cy="79208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807229"/>
              </p:ext>
            </p:extLst>
          </p:nvPr>
        </p:nvGraphicFramePr>
        <p:xfrm>
          <a:off x="4067944" y="2335058"/>
          <a:ext cx="4608512" cy="81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1" name="Equation" r:id="rId12" imgW="2578100" imgH="457200" progId="Equation.DSMT4">
                  <p:embed/>
                </p:oleObj>
              </mc:Choice>
              <mc:Fallback>
                <p:oleObj name="Equation" r:id="rId12" imgW="2578100" imgH="457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335058"/>
                        <a:ext cx="4608512" cy="81626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985557"/>
              </p:ext>
            </p:extLst>
          </p:nvPr>
        </p:nvGraphicFramePr>
        <p:xfrm>
          <a:off x="4067944" y="3221702"/>
          <a:ext cx="3326439" cy="855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2" name="Equation" r:id="rId14" imgW="1663700" imgH="431800" progId="Equation.DSMT4">
                  <p:embed/>
                </p:oleObj>
              </mc:Choice>
              <mc:Fallback>
                <p:oleObj name="Equation" r:id="rId14" imgW="1663700" imgH="431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3221702"/>
                        <a:ext cx="3326439" cy="85537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027488"/>
              </p:ext>
            </p:extLst>
          </p:nvPr>
        </p:nvGraphicFramePr>
        <p:xfrm>
          <a:off x="414577" y="2816964"/>
          <a:ext cx="1672440" cy="5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3" name="Equation" r:id="rId16" imgW="660240" imgH="228600" progId="Equation.DSMT4">
                  <p:embed/>
                </p:oleObj>
              </mc:Choice>
              <mc:Fallback>
                <p:oleObj name="Equation" r:id="rId16" imgW="660240" imgH="2286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77" y="2816964"/>
                        <a:ext cx="1672440" cy="5636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8AF3C7"/>
                          </a:gs>
                          <a:gs pos="50000">
                            <a:srgbClr val="B9F5DB"/>
                          </a:gs>
                          <a:gs pos="100000">
                            <a:srgbClr val="DDFAED"/>
                          </a:gs>
                        </a:gsLst>
                        <a:lin ang="5400000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32065"/>
              </p:ext>
            </p:extLst>
          </p:nvPr>
        </p:nvGraphicFramePr>
        <p:xfrm>
          <a:off x="2267744" y="2636912"/>
          <a:ext cx="1372251" cy="489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4" name="Equation" r:id="rId18" imgW="520700" imgH="228600" progId="Equation.DSMT4">
                  <p:embed/>
                </p:oleObj>
              </mc:Choice>
              <mc:Fallback>
                <p:oleObj name="Equation" r:id="rId18" imgW="5207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636912"/>
                        <a:ext cx="1372251" cy="48970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735058"/>
              </p:ext>
            </p:extLst>
          </p:nvPr>
        </p:nvGraphicFramePr>
        <p:xfrm>
          <a:off x="2241550" y="3276600"/>
          <a:ext cx="1752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5" name="Equation" r:id="rId20" imgW="812520" imgH="241200" progId="Equation.DSMT4">
                  <p:embed/>
                </p:oleObj>
              </mc:Choice>
              <mc:Fallback>
                <p:oleObj name="Equation" r:id="rId20" imgW="812520" imgH="2412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3276600"/>
                        <a:ext cx="1752600" cy="5175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466870" y="4110484"/>
            <a:ext cx="1931939" cy="523220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Box M</a:t>
            </a:r>
            <a:r>
              <a:rPr lang="zh-CN" altLang="zh-CN" sz="2800" b="1" dirty="0"/>
              <a:t>检验</a:t>
            </a:r>
            <a:endParaRPr lang="zh-CN" altLang="en-US" sz="2800" b="1" dirty="0"/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683894"/>
              </p:ext>
            </p:extLst>
          </p:nvPr>
        </p:nvGraphicFramePr>
        <p:xfrm>
          <a:off x="2555775" y="4110484"/>
          <a:ext cx="3924153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6" name="Equation" r:id="rId22" imgW="1714500" imgH="228600" progId="Equation.DSMT4">
                  <p:embed/>
                </p:oleObj>
              </mc:Choice>
              <mc:Fallback>
                <p:oleObj name="Equation" r:id="rId22" imgW="1714500" imgH="228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5" y="4110484"/>
                        <a:ext cx="3924153" cy="52322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461711" y="4725144"/>
            <a:ext cx="1980029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检验统计量</a:t>
            </a:r>
            <a:endParaRPr lang="zh-CN" altLang="en-US" sz="2800" b="1" dirty="0"/>
          </a:p>
        </p:txBody>
      </p:sp>
      <p:sp>
        <p:nvSpPr>
          <p:cNvPr id="25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887115"/>
              </p:ext>
            </p:extLst>
          </p:nvPr>
        </p:nvGraphicFramePr>
        <p:xfrm>
          <a:off x="2627783" y="4736915"/>
          <a:ext cx="3196556" cy="511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7" name="Equation" r:id="rId24" imgW="1422400" imgH="228600" progId="Equation.DSMT4">
                  <p:embed/>
                </p:oleObj>
              </mc:Choice>
              <mc:Fallback>
                <p:oleObj name="Equation" r:id="rId24" imgW="1422400" imgH="2286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3" y="4736915"/>
                        <a:ext cx="3196556" cy="51144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5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520163"/>
              </p:ext>
            </p:extLst>
          </p:nvPr>
        </p:nvGraphicFramePr>
        <p:xfrm>
          <a:off x="2441740" y="5877272"/>
          <a:ext cx="3890035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8" name="Equation" r:id="rId26" imgW="2108160" imgH="431640" progId="Equation.DSMT4">
                  <p:embed/>
                </p:oleObj>
              </mc:Choice>
              <mc:Fallback>
                <p:oleObj name="Equation" r:id="rId26" imgW="2108160" imgH="43164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740" y="5877272"/>
                        <a:ext cx="3890035" cy="79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5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527374"/>
              </p:ext>
            </p:extLst>
          </p:nvPr>
        </p:nvGraphicFramePr>
        <p:xfrm>
          <a:off x="1140260" y="5373216"/>
          <a:ext cx="7248164" cy="478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9" name="Equation" r:id="rId28" imgW="3416300" imgH="228600" progId="Equation.DSMT4">
                  <p:embed/>
                </p:oleObj>
              </mc:Choice>
              <mc:Fallback>
                <p:oleObj name="Equation" r:id="rId28" imgW="341630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260" y="5373216"/>
                        <a:ext cx="7248164" cy="478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83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55776" y="548680"/>
            <a:ext cx="3600400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sz="2800" b="1" dirty="0"/>
              <a:t>蠓虫分类的距离判别</a:t>
            </a:r>
            <a:endParaRPr lang="zh-CN" altLang="en-US" sz="2800" b="1" dirty="0">
              <a:latin typeface="+mj-lt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270" y="1106307"/>
            <a:ext cx="3780576" cy="27163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397230" y="3246544"/>
            <a:ext cx="3057247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线性距离判别函数</a:t>
            </a:r>
            <a:endParaRPr lang="zh-CN" altLang="en-US" sz="28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220244"/>
              </p:ext>
            </p:extLst>
          </p:nvPr>
        </p:nvGraphicFramePr>
        <p:xfrm>
          <a:off x="407308" y="3888271"/>
          <a:ext cx="5824574" cy="49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5" name="Equation" r:id="rId4" imgW="2705040" imgH="228600" progId="Equation.DSMT4">
                  <p:embed/>
                </p:oleObj>
              </mc:Choice>
              <mc:Fallback>
                <p:oleObj name="Equation" r:id="rId4" imgW="270504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08" y="3888271"/>
                        <a:ext cx="5824574" cy="49164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250124"/>
              </p:ext>
            </p:extLst>
          </p:nvPr>
        </p:nvGraphicFramePr>
        <p:xfrm>
          <a:off x="397230" y="1916832"/>
          <a:ext cx="4844028" cy="54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6" name="Equation" r:id="rId6" imgW="2095200" imgH="241200" progId="Equation.DSMT4">
                  <p:embed/>
                </p:oleObj>
              </mc:Choice>
              <mc:Fallback>
                <p:oleObj name="Equation" r:id="rId6" imgW="20952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30" y="1916832"/>
                        <a:ext cx="4844028" cy="547668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397230" y="1340767"/>
            <a:ext cx="262764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Box M</a:t>
            </a:r>
            <a:r>
              <a:rPr lang="zh-CN" altLang="zh-CN" sz="2800" b="1" dirty="0"/>
              <a:t>检验</a:t>
            </a:r>
            <a:r>
              <a:rPr lang="zh-CN" altLang="en-US" sz="2800" b="1" dirty="0"/>
              <a:t>结果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904620"/>
              </p:ext>
            </p:extLst>
          </p:nvPr>
        </p:nvGraphicFramePr>
        <p:xfrm>
          <a:off x="1925853" y="2564904"/>
          <a:ext cx="2543934" cy="532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7" name="Equation" r:id="rId8" imgW="1091880" imgH="228600" progId="Equation.DSMT4">
                  <p:embed/>
                </p:oleObj>
              </mc:Choice>
              <mc:Fallback>
                <p:oleObj name="Equation" r:id="rId8" imgW="109188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853" y="2564904"/>
                        <a:ext cx="2543934" cy="53245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5400000" scaled="0"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876319"/>
              </p:ext>
            </p:extLst>
          </p:nvPr>
        </p:nvGraphicFramePr>
        <p:xfrm>
          <a:off x="3059832" y="1384889"/>
          <a:ext cx="27225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8" name="Equation" r:id="rId10" imgW="1409400" imgH="228600" progId="Equation.DSMT4">
                  <p:embed/>
                </p:oleObj>
              </mc:Choice>
              <mc:Fallback>
                <p:oleObj name="Equation" r:id="rId10" imgW="14094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384889"/>
                        <a:ext cx="2722563" cy="43497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5400000" scaled="0"/>
                      </a:gra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490737"/>
              </p:ext>
            </p:extLst>
          </p:nvPr>
        </p:nvGraphicFramePr>
        <p:xfrm>
          <a:off x="397230" y="5190760"/>
          <a:ext cx="3213855" cy="974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9" name="Equation" r:id="rId12" imgW="1600200" imgH="482600" progId="Equation.DSMT4">
                  <p:embed/>
                </p:oleObj>
              </mc:Choice>
              <mc:Fallback>
                <p:oleObj name="Equation" r:id="rId12" imgW="1600200" imgH="4826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30" y="5190760"/>
                        <a:ext cx="3213855" cy="97454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396883" y="4628727"/>
            <a:ext cx="233910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距离</a:t>
            </a:r>
            <a:r>
              <a:rPr lang="zh-CN" altLang="zh-CN" sz="2800" b="1" dirty="0"/>
              <a:t>判别准则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3914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627784" y="548680"/>
            <a:ext cx="3456384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 dirty="0"/>
              <a:t>距离判别</a:t>
            </a:r>
            <a:r>
              <a:rPr lang="zh-CN" altLang="zh-CN" sz="2800" b="1" dirty="0"/>
              <a:t>模型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检验</a:t>
            </a:r>
            <a:endParaRPr lang="zh-CN" altLang="zh-CN" sz="28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49700"/>
              </p:ext>
            </p:extLst>
          </p:nvPr>
        </p:nvGraphicFramePr>
        <p:xfrm>
          <a:off x="1329318" y="1700808"/>
          <a:ext cx="6762372" cy="50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3" name="Equation" r:id="rId3" imgW="3098520" imgH="228600" progId="Equation.DSMT4">
                  <p:embed/>
                </p:oleObj>
              </mc:Choice>
              <mc:Fallback>
                <p:oleObj name="Equation" r:id="rId3" imgW="309852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318" y="1700808"/>
                        <a:ext cx="6762372" cy="50030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5400000" scaled="0"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14782" y="1071900"/>
            <a:ext cx="1980029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回代误判法</a:t>
            </a:r>
            <a:endParaRPr lang="zh-CN" altLang="en-US" sz="2800" b="1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6696"/>
              </p:ext>
            </p:extLst>
          </p:nvPr>
        </p:nvGraphicFramePr>
        <p:xfrm>
          <a:off x="4273255" y="3110075"/>
          <a:ext cx="4598223" cy="436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4" name="Equation" r:id="rId5" imgW="2413000" imgH="228600" progId="Equation.DSMT4">
                  <p:embed/>
                </p:oleObj>
              </mc:Choice>
              <mc:Fallback>
                <p:oleObj name="Equation" r:id="rId5" imgW="24130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255" y="3110075"/>
                        <a:ext cx="4598223" cy="43619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526996"/>
              </p:ext>
            </p:extLst>
          </p:nvPr>
        </p:nvGraphicFramePr>
        <p:xfrm>
          <a:off x="4272734" y="3645024"/>
          <a:ext cx="4601205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5" name="Equation" r:id="rId7" imgW="2438280" imgH="228600" progId="Equation.DSMT4">
                  <p:embed/>
                </p:oleObj>
              </mc:Choice>
              <mc:Fallback>
                <p:oleObj name="Equation" r:id="rId7" imgW="2438280" imgH="2286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734" y="3645024"/>
                        <a:ext cx="4601205" cy="43204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411760" y="2201112"/>
            <a:ext cx="2339102" cy="815004"/>
            <a:chOff x="2411760" y="2201112"/>
            <a:chExt cx="2339102" cy="815004"/>
          </a:xfrm>
        </p:grpSpPr>
        <p:sp>
          <p:nvSpPr>
            <p:cNvPr id="11" name="矩形 10"/>
            <p:cNvSpPr/>
            <p:nvPr/>
          </p:nvSpPr>
          <p:spPr>
            <a:xfrm>
              <a:off x="2411760" y="2492896"/>
              <a:ext cx="2339102" cy="523220"/>
            </a:xfrm>
            <a:prstGeom prst="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txBody>
            <a:bodyPr wrap="none">
              <a:spAutoFit/>
            </a:bodyPr>
            <a:lstStyle/>
            <a:p>
              <a:r>
                <a:rPr lang="zh-CN" altLang="zh-CN" sz="2800" b="1" dirty="0"/>
                <a:t>逐个回代判别</a:t>
              </a:r>
              <a:endParaRPr lang="zh-CN" altLang="en-US" sz="2800" b="1" dirty="0"/>
            </a:p>
          </p:txBody>
        </p:sp>
        <p:sp>
          <p:nvSpPr>
            <p:cNvPr id="15" name="下箭头 14"/>
            <p:cNvSpPr/>
            <p:nvPr/>
          </p:nvSpPr>
          <p:spPr bwMode="auto">
            <a:xfrm>
              <a:off x="3305024" y="2201112"/>
              <a:ext cx="216024" cy="288032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3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528881" y="2996952"/>
            <a:ext cx="1683079" cy="792088"/>
            <a:chOff x="2528881" y="2996952"/>
            <a:chExt cx="1683079" cy="792088"/>
          </a:xfrm>
        </p:grpSpPr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9957067"/>
                </p:ext>
              </p:extLst>
            </p:nvPr>
          </p:nvGraphicFramePr>
          <p:xfrm>
            <a:off x="2528881" y="3264444"/>
            <a:ext cx="1683079" cy="524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376" name="Equation" r:id="rId9" imgW="736600" imgH="228600" progId="Equation.DSMT4">
                    <p:embed/>
                  </p:oleObj>
                </mc:Choice>
                <mc:Fallback>
                  <p:oleObj name="Equation" r:id="rId9" imgW="736600" imgH="2286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8881" y="3264444"/>
                          <a:ext cx="1683079" cy="524596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chemeClr val="accent1">
                                <a:tint val="66000"/>
                                <a:satMod val="160000"/>
                              </a:schemeClr>
                            </a:gs>
                            <a:gs pos="50000">
                              <a:schemeClr val="accent1">
                                <a:tint val="44500"/>
                                <a:satMod val="160000"/>
                              </a:schemeClr>
                            </a:gs>
                            <a:gs pos="100000">
                              <a:schemeClr val="accent1">
                                <a:tint val="23500"/>
                                <a:satMod val="160000"/>
                              </a:schemeClr>
                            </a:gs>
                          </a:gsLst>
                          <a:lin ang="5400000" scaled="0"/>
                        </a:gra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下箭头 21"/>
            <p:cNvSpPr/>
            <p:nvPr/>
          </p:nvSpPr>
          <p:spPr bwMode="auto">
            <a:xfrm>
              <a:off x="3337245" y="2996952"/>
              <a:ext cx="216024" cy="288032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11560" y="3789040"/>
            <a:ext cx="4104456" cy="1394196"/>
            <a:chOff x="611560" y="3789040"/>
            <a:chExt cx="4104456" cy="1394196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6949245"/>
                </p:ext>
              </p:extLst>
            </p:nvPr>
          </p:nvGraphicFramePr>
          <p:xfrm>
            <a:off x="2591589" y="4149080"/>
            <a:ext cx="2124427" cy="1034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377" name="Equation" r:id="rId11" imgW="799753" imgH="431613" progId="Equation.DSMT4">
                    <p:embed/>
                  </p:oleObj>
                </mc:Choice>
                <mc:Fallback>
                  <p:oleObj name="Equation" r:id="rId11" imgW="799753" imgH="431613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1589" y="4149080"/>
                          <a:ext cx="2124427" cy="1034156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/>
            <p:cNvSpPr/>
            <p:nvPr/>
          </p:nvSpPr>
          <p:spPr>
            <a:xfrm>
              <a:off x="611560" y="4351358"/>
              <a:ext cx="1980029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r>
                <a:rPr lang="zh-CN" altLang="zh-CN" sz="2800" b="1" dirty="0"/>
                <a:t>回代误判</a:t>
              </a:r>
              <a:r>
                <a:rPr lang="zh-CN" altLang="en-US" sz="2800" b="1" dirty="0"/>
                <a:t>率</a:t>
              </a:r>
            </a:p>
          </p:txBody>
        </p:sp>
        <p:sp>
          <p:nvSpPr>
            <p:cNvPr id="23" name="下箭头 22"/>
            <p:cNvSpPr/>
            <p:nvPr/>
          </p:nvSpPr>
          <p:spPr bwMode="auto">
            <a:xfrm>
              <a:off x="3354743" y="3789040"/>
              <a:ext cx="216024" cy="288032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486651" y="5543228"/>
            <a:ext cx="3416320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蠓虫分类</a:t>
            </a:r>
            <a:r>
              <a:rPr lang="zh-CN" altLang="zh-CN" sz="2800" b="1" dirty="0"/>
              <a:t>回代误判</a:t>
            </a:r>
            <a:r>
              <a:rPr lang="zh-CN" altLang="en-US" sz="2800" b="1" dirty="0"/>
              <a:t>率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805171"/>
              </p:ext>
            </p:extLst>
          </p:nvPr>
        </p:nvGraphicFramePr>
        <p:xfrm>
          <a:off x="4139952" y="5520074"/>
          <a:ext cx="1922215" cy="57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8" name="Equation" r:id="rId13" imgW="761760" imgH="228600" progId="Equation.DSMT4">
                  <p:embed/>
                </p:oleObj>
              </mc:Choice>
              <mc:Fallback>
                <p:oleObj name="Equation" r:id="rId13" imgW="761760" imgH="2286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5520074"/>
                        <a:ext cx="1922215" cy="57322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6256504" y="5589240"/>
            <a:ext cx="1421640" cy="519319"/>
            <a:chOff x="6256504" y="5589240"/>
            <a:chExt cx="1421640" cy="519319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6720115"/>
                </p:ext>
              </p:extLst>
            </p:nvPr>
          </p:nvGraphicFramePr>
          <p:xfrm>
            <a:off x="6732240" y="5589240"/>
            <a:ext cx="945904" cy="519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379" name="Equation" r:id="rId15" imgW="368280" imgH="203040" progId="Equation.DSMT4">
                    <p:embed/>
                  </p:oleObj>
                </mc:Choice>
                <mc:Fallback>
                  <p:oleObj name="Equation" r:id="rId15" imgW="368280" imgH="203040" progId="Equation.DSMT4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2240" y="5589240"/>
                          <a:ext cx="945904" cy="519319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右箭头 26"/>
            <p:cNvSpPr/>
            <p:nvPr/>
          </p:nvSpPr>
          <p:spPr bwMode="auto">
            <a:xfrm>
              <a:off x="6256504" y="5589240"/>
              <a:ext cx="244602" cy="38422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18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683568" y="548680"/>
            <a:ext cx="1980029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交叉验证法</a:t>
            </a:r>
            <a:endParaRPr lang="zh-CN" altLang="en-US" sz="2800" b="1" dirty="0"/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843374" y="2128981"/>
            <a:ext cx="5555483" cy="689271"/>
            <a:chOff x="1843374" y="2128981"/>
            <a:chExt cx="5555483" cy="689271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8193798"/>
                </p:ext>
              </p:extLst>
            </p:nvPr>
          </p:nvGraphicFramePr>
          <p:xfrm>
            <a:off x="1843374" y="2323276"/>
            <a:ext cx="5555483" cy="494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02" name="Equation" r:id="rId3" imgW="2666880" imgH="241200" progId="Equation.DSMT4">
                    <p:embed/>
                  </p:oleObj>
                </mc:Choice>
                <mc:Fallback>
                  <p:oleObj name="Equation" r:id="rId3" imgW="2666880" imgH="241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3374" y="2323276"/>
                          <a:ext cx="5555483" cy="49497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下箭头 21"/>
            <p:cNvSpPr/>
            <p:nvPr/>
          </p:nvSpPr>
          <p:spPr bwMode="auto">
            <a:xfrm>
              <a:off x="4059136" y="2128981"/>
              <a:ext cx="368847" cy="144016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486651" y="5584235"/>
            <a:ext cx="4134465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蠓虫分类交叉验证</a:t>
            </a:r>
            <a:r>
              <a:rPr lang="zh-CN" altLang="zh-CN" sz="2800" b="1" dirty="0"/>
              <a:t>误判</a:t>
            </a:r>
            <a:r>
              <a:rPr lang="zh-CN" altLang="en-US" sz="2800" b="1" dirty="0"/>
              <a:t>率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871460"/>
              </p:ext>
            </p:extLst>
          </p:nvPr>
        </p:nvGraphicFramePr>
        <p:xfrm>
          <a:off x="4795519" y="5568889"/>
          <a:ext cx="1925873" cy="524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03" name="Equation" r:id="rId5" imgW="888840" imgH="241200" progId="Equation.DSMT4">
                  <p:embed/>
                </p:oleObj>
              </mc:Choice>
              <mc:Fallback>
                <p:oleObj name="Equation" r:id="rId5" imgW="888840" imgH="2412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519" y="5568889"/>
                        <a:ext cx="1925873" cy="52440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876256" y="5251386"/>
            <a:ext cx="1440160" cy="896099"/>
            <a:chOff x="6876256" y="5251386"/>
            <a:chExt cx="1440160" cy="896099"/>
          </a:xfrm>
        </p:grpSpPr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8856188"/>
                </p:ext>
              </p:extLst>
            </p:nvPr>
          </p:nvGraphicFramePr>
          <p:xfrm>
            <a:off x="7164288" y="5251386"/>
            <a:ext cx="1152128" cy="8960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04" name="Equation" r:id="rId7" imgW="507960" imgH="393480" progId="Equation.DSMT4">
                    <p:embed/>
                  </p:oleObj>
                </mc:Choice>
                <mc:Fallback>
                  <p:oleObj name="Equation" r:id="rId7" imgW="507960" imgH="393480" progId="Equation.DSMT4">
                    <p:embed/>
                    <p:pic>
                      <p:nvPicPr>
                        <p:cNvPr id="0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4288" y="5251386"/>
                          <a:ext cx="1152128" cy="896099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右箭头 28"/>
            <p:cNvSpPr/>
            <p:nvPr/>
          </p:nvSpPr>
          <p:spPr bwMode="auto">
            <a:xfrm>
              <a:off x="6876256" y="5589240"/>
              <a:ext cx="122301" cy="382768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683568" y="1275641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从</a:t>
            </a:r>
            <a:r>
              <a:rPr lang="en-US" altLang="zh-CN" b="1" i="1" dirty="0"/>
              <a:t>G</a:t>
            </a:r>
            <a:r>
              <a:rPr lang="en-US" altLang="zh-CN" b="1" baseline="-25000" dirty="0"/>
              <a:t>1</a:t>
            </a:r>
            <a:r>
              <a:rPr lang="zh-CN" altLang="zh-CN" b="1" dirty="0"/>
              <a:t>的</a:t>
            </a:r>
            <a:r>
              <a:rPr lang="en-US" altLang="zh-CN" b="1" i="1" dirty="0"/>
              <a:t>n</a:t>
            </a:r>
            <a:r>
              <a:rPr lang="en-US" altLang="zh-CN" b="1" baseline="-25000" dirty="0"/>
              <a:t>1</a:t>
            </a:r>
            <a:r>
              <a:rPr lang="zh-CN" altLang="zh-CN" b="1" dirty="0"/>
              <a:t>个样本中</a:t>
            </a:r>
            <a:r>
              <a:rPr lang="zh-CN" altLang="zh-CN" b="1" dirty="0">
                <a:solidFill>
                  <a:srgbClr val="FF0000"/>
                </a:solidFill>
              </a:rPr>
              <a:t>每次</a:t>
            </a:r>
            <a:r>
              <a:rPr lang="zh-CN" altLang="en-US" b="1" dirty="0">
                <a:solidFill>
                  <a:srgbClr val="FF0000"/>
                </a:solidFill>
              </a:rPr>
              <a:t>留</a:t>
            </a:r>
            <a:r>
              <a:rPr lang="zh-CN" altLang="zh-CN" b="1" dirty="0">
                <a:solidFill>
                  <a:srgbClr val="FF0000"/>
                </a:solidFill>
              </a:rPr>
              <a:t>一</a:t>
            </a:r>
            <a:r>
              <a:rPr lang="zh-CN" altLang="zh-CN" b="1" dirty="0"/>
              <a:t>个作为</a:t>
            </a:r>
            <a:r>
              <a:rPr lang="zh-CN" altLang="zh-CN" b="1" dirty="0">
                <a:solidFill>
                  <a:srgbClr val="FF0000"/>
                </a:solidFill>
              </a:rPr>
              <a:t>验证</a:t>
            </a:r>
            <a:r>
              <a:rPr lang="zh-CN" altLang="zh-CN" b="1" dirty="0"/>
              <a:t>样本</a:t>
            </a:r>
            <a:r>
              <a:rPr lang="en-US" altLang="zh-CN" b="1" dirty="0"/>
              <a:t>, </a:t>
            </a:r>
            <a:r>
              <a:rPr lang="zh-CN" altLang="zh-CN" b="1" dirty="0"/>
              <a:t>其余</a:t>
            </a:r>
            <a:r>
              <a:rPr lang="en-US" altLang="zh-CN" b="1" i="1" dirty="0"/>
              <a:t>n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-1</a:t>
            </a:r>
            <a:r>
              <a:rPr lang="zh-CN" altLang="zh-CN" b="1" dirty="0"/>
              <a:t>个与</a:t>
            </a:r>
            <a:r>
              <a:rPr lang="en-US" altLang="zh-CN" b="1" i="1" dirty="0"/>
              <a:t>G</a:t>
            </a:r>
            <a:r>
              <a:rPr lang="en-US" altLang="zh-CN" b="1" baseline="-25000" dirty="0"/>
              <a:t>2</a:t>
            </a:r>
            <a:r>
              <a:rPr lang="zh-CN" altLang="zh-CN" b="1" dirty="0"/>
              <a:t>的</a:t>
            </a:r>
            <a:r>
              <a:rPr lang="en-US" altLang="zh-CN" b="1" i="1" dirty="0"/>
              <a:t>n</a:t>
            </a:r>
            <a:r>
              <a:rPr lang="en-US" altLang="zh-CN" b="1" baseline="-25000" dirty="0"/>
              <a:t>2</a:t>
            </a:r>
            <a:r>
              <a:rPr lang="zh-CN" altLang="zh-CN" b="1" dirty="0"/>
              <a:t>个一起作为训练样本建立判别准则</a:t>
            </a:r>
            <a:r>
              <a:rPr lang="en-US" altLang="zh-CN" b="1" dirty="0"/>
              <a:t>, </a:t>
            </a:r>
            <a:r>
              <a:rPr lang="zh-CN" altLang="zh-CN" b="1" dirty="0"/>
              <a:t>检验验证样本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8" name="Rectangle 6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971600" y="4114396"/>
            <a:ext cx="4217724" cy="1186812"/>
            <a:chOff x="971600" y="4114396"/>
            <a:chExt cx="4217724" cy="1186812"/>
          </a:xfrm>
        </p:grpSpPr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8313171"/>
                </p:ext>
              </p:extLst>
            </p:nvPr>
          </p:nvGraphicFramePr>
          <p:xfrm>
            <a:off x="3360997" y="4314899"/>
            <a:ext cx="1828327" cy="986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05" name="Equation" r:id="rId9" imgW="850900" imgH="457200" progId="Equation.DSMT4">
                    <p:embed/>
                  </p:oleObj>
                </mc:Choice>
                <mc:Fallback>
                  <p:oleObj name="Equation" r:id="rId9" imgW="850900" imgH="457200" progId="Equation.DSMT4">
                    <p:embed/>
                    <p:pic>
                      <p:nvPicPr>
                        <p:cNvPr id="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997" y="4314899"/>
                          <a:ext cx="1828327" cy="986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/>
            <p:cNvSpPr/>
            <p:nvPr/>
          </p:nvSpPr>
          <p:spPr>
            <a:xfrm>
              <a:off x="971600" y="4546444"/>
              <a:ext cx="2698175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交叉验证</a:t>
              </a:r>
              <a:r>
                <a:rPr lang="zh-CN" altLang="zh-CN" sz="2800" b="1" dirty="0"/>
                <a:t>误判</a:t>
              </a:r>
              <a:r>
                <a:rPr lang="zh-CN" altLang="en-US" sz="2800" b="1" dirty="0"/>
                <a:t>率</a:t>
              </a:r>
            </a:p>
          </p:txBody>
        </p:sp>
        <p:sp>
          <p:nvSpPr>
            <p:cNvPr id="30" name="下箭头 29"/>
            <p:cNvSpPr/>
            <p:nvPr/>
          </p:nvSpPr>
          <p:spPr bwMode="auto">
            <a:xfrm>
              <a:off x="3942552" y="4114396"/>
              <a:ext cx="368847" cy="144016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907704" y="2890260"/>
            <a:ext cx="5344566" cy="1182047"/>
            <a:chOff x="1907704" y="2890260"/>
            <a:chExt cx="5344566" cy="1182047"/>
          </a:xfrm>
        </p:grpSpPr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9733356"/>
                </p:ext>
              </p:extLst>
            </p:nvPr>
          </p:nvGraphicFramePr>
          <p:xfrm>
            <a:off x="1907704" y="3126060"/>
            <a:ext cx="5344566" cy="946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06" name="Equation" r:id="rId11" imgW="2705040" imgH="482400" progId="Equation.DSMT4">
                    <p:embed/>
                  </p:oleObj>
                </mc:Choice>
                <mc:Fallback>
                  <p:oleObj name="Equation" r:id="rId11" imgW="2705040" imgH="482400" progId="Equation.DSMT4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704" y="3126060"/>
                          <a:ext cx="5344566" cy="946247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chemeClr val="accent1">
                                <a:tint val="66000"/>
                                <a:satMod val="160000"/>
                              </a:schemeClr>
                            </a:gs>
                            <a:gs pos="50000">
                              <a:schemeClr val="accent1">
                                <a:tint val="44500"/>
                                <a:satMod val="160000"/>
                              </a:schemeClr>
                            </a:gs>
                            <a:gs pos="100000">
                              <a:schemeClr val="accent1">
                                <a:tint val="23500"/>
                                <a:satMod val="160000"/>
                              </a:schemeClr>
                            </a:gs>
                          </a:gsLst>
                          <a:lin ang="5400000" scaled="0"/>
                        </a:gra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下箭头 30"/>
            <p:cNvSpPr/>
            <p:nvPr/>
          </p:nvSpPr>
          <p:spPr bwMode="auto">
            <a:xfrm>
              <a:off x="4000844" y="2890260"/>
              <a:ext cx="368847" cy="144016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83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843808" y="548680"/>
            <a:ext cx="2880320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/>
              <a:t>Bayes</a:t>
            </a:r>
            <a:r>
              <a:rPr lang="zh-CN" altLang="zh-CN" sz="2800" b="1" dirty="0"/>
              <a:t>判别模型</a:t>
            </a:r>
            <a:endParaRPr lang="zh-CN" altLang="en-US" sz="2800" b="1" dirty="0"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16216" y="1196752"/>
            <a:ext cx="2339102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考虑</a:t>
            </a:r>
            <a:r>
              <a:rPr lang="zh-CN" altLang="zh-CN" sz="2800" b="1" dirty="0">
                <a:solidFill>
                  <a:srgbClr val="FF0000"/>
                </a:solidFill>
              </a:rPr>
              <a:t>误判损失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8303" y="1196752"/>
            <a:ext cx="57919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zh-CN" sz="2800" b="1" dirty="0"/>
              <a:t>毒蠓</a:t>
            </a:r>
            <a:r>
              <a:rPr lang="en-US" altLang="zh-CN" sz="2800" b="1" dirty="0" err="1"/>
              <a:t>Apf</a:t>
            </a:r>
            <a:r>
              <a:rPr lang="zh-CN" altLang="zh-CN" sz="2800" b="1" dirty="0"/>
              <a:t>误判成益蠓</a:t>
            </a:r>
            <a:r>
              <a:rPr lang="en-US" altLang="zh-CN" sz="2800" b="1" dirty="0" err="1"/>
              <a:t>Af</a:t>
            </a:r>
            <a:r>
              <a:rPr lang="zh-CN" altLang="zh-CN" sz="2800" b="1" dirty="0"/>
              <a:t>的</a:t>
            </a:r>
            <a:r>
              <a:rPr lang="zh-CN" altLang="zh-CN" sz="2800" b="1" dirty="0">
                <a:solidFill>
                  <a:srgbClr val="FF0000"/>
                </a:solidFill>
              </a:rPr>
              <a:t>危害</a:t>
            </a:r>
            <a:r>
              <a:rPr lang="zh-CN" altLang="en-US" sz="2800" b="1" dirty="0">
                <a:solidFill>
                  <a:srgbClr val="FF0000"/>
                </a:solidFill>
              </a:rPr>
              <a:t>性</a:t>
            </a:r>
            <a:r>
              <a:rPr lang="zh-CN" altLang="en-US" sz="2800" b="1" dirty="0"/>
              <a:t>更大</a:t>
            </a:r>
          </a:p>
        </p:txBody>
      </p:sp>
      <p:sp>
        <p:nvSpPr>
          <p:cNvPr id="5" name="矩形 4"/>
          <p:cNvSpPr/>
          <p:nvPr/>
        </p:nvSpPr>
        <p:spPr>
          <a:xfrm>
            <a:off x="558830" y="1772816"/>
            <a:ext cx="1627369" cy="523220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模型</a:t>
            </a:r>
            <a:r>
              <a:rPr lang="zh-CN" altLang="en-US" sz="2800" b="1" dirty="0"/>
              <a:t>假设</a:t>
            </a:r>
            <a:endParaRPr lang="zh-CN" altLang="en-US" sz="2800" dirty="0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0979"/>
              </p:ext>
            </p:extLst>
          </p:nvPr>
        </p:nvGraphicFramePr>
        <p:xfrm>
          <a:off x="1187624" y="2360613"/>
          <a:ext cx="52657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0" name="Equation" r:id="rId3" imgW="2260440" imgH="228600" progId="Equation.DSMT4">
                  <p:embed/>
                </p:oleObj>
              </mc:Choice>
              <mc:Fallback>
                <p:oleObj name="Equation" r:id="rId3" imgW="226044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360613"/>
                        <a:ext cx="5265737" cy="53181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5400000" scaled="0"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555391"/>
              </p:ext>
            </p:extLst>
          </p:nvPr>
        </p:nvGraphicFramePr>
        <p:xfrm>
          <a:off x="736600" y="3573016"/>
          <a:ext cx="7670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1" name="Equation" r:id="rId5" imgW="3479760" imgH="228600" progId="Equation.DSMT4">
                  <p:embed/>
                </p:oleObj>
              </mc:Choice>
              <mc:Fallback>
                <p:oleObj name="Equation" r:id="rId5" imgW="347976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3573016"/>
                        <a:ext cx="7670800" cy="50323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5400000" scaled="0"/>
                      </a:gra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473640"/>
              </p:ext>
            </p:extLst>
          </p:nvPr>
        </p:nvGraphicFramePr>
        <p:xfrm>
          <a:off x="6804248" y="2996952"/>
          <a:ext cx="1492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2" name="Equation" r:id="rId7" imgW="761760" imgH="228600" progId="Equation.DSMT4">
                  <p:embed/>
                </p:oleObj>
              </mc:Choice>
              <mc:Fallback>
                <p:oleObj name="Equation" r:id="rId7" imgW="761760" imgH="2286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2996952"/>
                        <a:ext cx="1492250" cy="4445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8AF3C7"/>
                          </a:gs>
                          <a:gs pos="50000">
                            <a:srgbClr val="B9F5DB"/>
                          </a:gs>
                          <a:gs pos="100000">
                            <a:srgbClr val="DDFAED"/>
                          </a:gs>
                        </a:gsLst>
                        <a:lin ang="5400000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176907"/>
              </p:ext>
            </p:extLst>
          </p:nvPr>
        </p:nvGraphicFramePr>
        <p:xfrm>
          <a:off x="1233216" y="2996952"/>
          <a:ext cx="4994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3" name="Equation" r:id="rId9" imgW="2260440" imgH="228600" progId="Equation.DSMT4">
                  <p:embed/>
                </p:oleObj>
              </mc:Choice>
              <mc:Fallback>
                <p:oleObj name="Equation" r:id="rId9" imgW="2260440" imgH="2286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216" y="2996952"/>
                        <a:ext cx="49942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256172"/>
              </p:ext>
            </p:extLst>
          </p:nvPr>
        </p:nvGraphicFramePr>
        <p:xfrm>
          <a:off x="6732240" y="2326248"/>
          <a:ext cx="1563134" cy="52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4" name="Equation" r:id="rId11" imgW="672840" imgH="228600" progId="Equation.DSMT4">
                  <p:embed/>
                </p:oleObj>
              </mc:Choice>
              <mc:Fallback>
                <p:oleObj name="Equation" r:id="rId11" imgW="672840" imgH="2286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2326248"/>
                        <a:ext cx="1563134" cy="5266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8AF3C7"/>
                          </a:gs>
                          <a:gs pos="50000">
                            <a:srgbClr val="B9F5DB"/>
                          </a:gs>
                          <a:gs pos="100000">
                            <a:srgbClr val="DDFAED"/>
                          </a:gs>
                        </a:gsLst>
                        <a:lin ang="5400000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19625"/>
              </p:ext>
            </p:extLst>
          </p:nvPr>
        </p:nvGraphicFramePr>
        <p:xfrm>
          <a:off x="459507" y="4149080"/>
          <a:ext cx="785653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5" name="Equation" r:id="rId13" imgW="3543120" imgH="241200" progId="Equation.DSMT4">
                  <p:embed/>
                </p:oleObj>
              </mc:Choice>
              <mc:Fallback>
                <p:oleObj name="Equation" r:id="rId13" imgW="3543120" imgH="241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07" y="4149080"/>
                        <a:ext cx="7856538" cy="528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602725"/>
              </p:ext>
            </p:extLst>
          </p:nvPr>
        </p:nvGraphicFramePr>
        <p:xfrm>
          <a:off x="596900" y="4778375"/>
          <a:ext cx="53705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6" name="Equation" r:id="rId15" imgW="2336760" imgH="215640" progId="Equation.DSMT4">
                  <p:embed/>
                </p:oleObj>
              </mc:Choice>
              <mc:Fallback>
                <p:oleObj name="Equation" r:id="rId15" imgW="2336760" imgH="21564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4778375"/>
                        <a:ext cx="5370513" cy="488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641026"/>
              </p:ext>
            </p:extLst>
          </p:nvPr>
        </p:nvGraphicFramePr>
        <p:xfrm>
          <a:off x="971600" y="5445224"/>
          <a:ext cx="720080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7" name="Equation" r:id="rId17" imgW="3175000" imgH="330200" progId="Equation.DSMT4">
                  <p:embed/>
                </p:oleObj>
              </mc:Choice>
              <mc:Fallback>
                <p:oleObj name="Equation" r:id="rId17" imgW="3175000" imgH="3302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5445224"/>
                        <a:ext cx="7200800" cy="72008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976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843808" y="548680"/>
            <a:ext cx="2880320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/>
              <a:t>Bayes</a:t>
            </a:r>
            <a:r>
              <a:rPr lang="zh-CN" altLang="zh-CN" sz="2800" b="1" dirty="0"/>
              <a:t>判别</a:t>
            </a:r>
            <a:r>
              <a:rPr lang="zh-CN" altLang="en-US" sz="2800" b="1" dirty="0"/>
              <a:t>准则</a:t>
            </a:r>
            <a:endParaRPr lang="zh-CN" altLang="en-US" sz="2800" b="1" dirty="0"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676320"/>
              </p:ext>
            </p:extLst>
          </p:nvPr>
        </p:nvGraphicFramePr>
        <p:xfrm>
          <a:off x="871092" y="1772816"/>
          <a:ext cx="682575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1" name="Equation" r:id="rId3" imgW="3086100" imgH="228600" progId="Equation.DSMT4">
                  <p:embed/>
                </p:oleObj>
              </mc:Choice>
              <mc:Fallback>
                <p:oleObj name="Equation" r:id="rId3" imgW="30861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092" y="1772816"/>
                        <a:ext cx="6825752" cy="50405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491942" y="2420888"/>
            <a:ext cx="1656184" cy="1031051"/>
          </a:xfrm>
          <a:prstGeom prst="rect">
            <a:avLst/>
          </a:prstGeom>
          <a:solidFill>
            <a:srgbClr val="FFCCFF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en-US" altLang="zh-CN" sz="2800" b="1" dirty="0"/>
              <a:t>Bayes</a:t>
            </a:r>
          </a:p>
          <a:p>
            <a:pPr algn="ctr" eaLnBrk="1" hangingPunct="1">
              <a:spcBef>
                <a:spcPts val="600"/>
              </a:spcBef>
            </a:pPr>
            <a:r>
              <a:rPr lang="zh-CN" altLang="zh-CN" sz="2800" b="1" dirty="0"/>
              <a:t>判别</a:t>
            </a:r>
            <a:r>
              <a:rPr lang="zh-CN" altLang="en-US" sz="2800" b="1" dirty="0"/>
              <a:t>准则</a:t>
            </a:r>
            <a:endParaRPr lang="zh-CN" altLang="en-US" sz="2800" b="1" dirty="0"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514116"/>
              </p:ext>
            </p:extLst>
          </p:nvPr>
        </p:nvGraphicFramePr>
        <p:xfrm>
          <a:off x="2148126" y="2420888"/>
          <a:ext cx="6307610" cy="1031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2" name="Equation" r:id="rId5" imgW="2971800" imgH="482600" progId="Equation.DSMT4">
                  <p:embed/>
                </p:oleObj>
              </mc:Choice>
              <mc:Fallback>
                <p:oleObj name="Equation" r:id="rId5" imgW="2971800" imgH="482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126" y="2420888"/>
                        <a:ext cx="6307610" cy="103105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547403" y="3717032"/>
            <a:ext cx="1656184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latin typeface="+mj-ea"/>
                <a:ea typeface="+mj-ea"/>
              </a:rPr>
              <a:t>正态情形</a:t>
            </a:r>
          </a:p>
        </p:txBody>
      </p:sp>
      <p:sp>
        <p:nvSpPr>
          <p:cNvPr id="1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485917"/>
              </p:ext>
            </p:extLst>
          </p:nvPr>
        </p:nvGraphicFramePr>
        <p:xfrm>
          <a:off x="2267744" y="3709015"/>
          <a:ext cx="4581794" cy="541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3" name="Equation" r:id="rId7" imgW="1930400" imgH="228600" progId="Equation.DSMT4">
                  <p:embed/>
                </p:oleObj>
              </mc:Choice>
              <mc:Fallback>
                <p:oleObj name="Equation" r:id="rId7" imgW="19304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709015"/>
                        <a:ext cx="4581794" cy="54169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5E9EFF"/>
                          </a:gs>
                          <a:gs pos="39999">
                            <a:srgbClr val="85C2FF"/>
                          </a:gs>
                          <a:gs pos="70000">
                            <a:srgbClr val="C4D6EB"/>
                          </a:gs>
                          <a:gs pos="100000">
                            <a:srgbClr val="FFEBFA"/>
                          </a:gs>
                        </a:gsLst>
                        <a:lin ang="5400000" scaled="0"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719919"/>
              </p:ext>
            </p:extLst>
          </p:nvPr>
        </p:nvGraphicFramePr>
        <p:xfrm>
          <a:off x="6948264" y="3717032"/>
          <a:ext cx="1867853" cy="533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4" name="Equation" r:id="rId9" imgW="800100" imgH="228600" progId="Equation.DSMT4">
                  <p:embed/>
                </p:oleObj>
              </mc:Choice>
              <mc:Fallback>
                <p:oleObj name="Equation" r:id="rId9" imgW="8001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3717032"/>
                        <a:ext cx="1867853" cy="53367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5E9EFF"/>
                          </a:gs>
                          <a:gs pos="39999">
                            <a:srgbClr val="85C2FF"/>
                          </a:gs>
                          <a:gs pos="70000">
                            <a:srgbClr val="C4D6EB"/>
                          </a:gs>
                          <a:gs pos="100000">
                            <a:srgbClr val="FFEBFA"/>
                          </a:gs>
                        </a:gsLst>
                        <a:lin ang="5400000" scaled="0"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189489"/>
              </p:ext>
            </p:extLst>
          </p:nvPr>
        </p:nvGraphicFramePr>
        <p:xfrm>
          <a:off x="2203586" y="4378273"/>
          <a:ext cx="3736565" cy="107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5" name="Equation" r:id="rId11" imgW="1688367" imgH="482391" progId="Equation.DSMT4">
                  <p:embed/>
                </p:oleObj>
              </mc:Choice>
              <mc:Fallback>
                <p:oleObj name="Equation" r:id="rId11" imgW="1688367" imgH="48239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586" y="4378273"/>
                        <a:ext cx="3736565" cy="10705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64215"/>
              </p:ext>
            </p:extLst>
          </p:nvPr>
        </p:nvGraphicFramePr>
        <p:xfrm>
          <a:off x="395536" y="5574432"/>
          <a:ext cx="4422338" cy="762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6" name="Equation" r:id="rId13" imgW="2222500" imgH="393700" progId="Equation.DSMT4">
                  <p:embed/>
                </p:oleObj>
              </mc:Choice>
              <mc:Fallback>
                <p:oleObj name="Equation" r:id="rId13" imgW="2222500" imgH="393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574432"/>
                        <a:ext cx="4422338" cy="76247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437467"/>
              </p:ext>
            </p:extLst>
          </p:nvPr>
        </p:nvGraphicFramePr>
        <p:xfrm>
          <a:off x="4889165" y="5548942"/>
          <a:ext cx="2016224" cy="832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77" name="Equation" r:id="rId15" imgW="1040948" imgH="431613" progId="Equation.DSMT4">
                  <p:embed/>
                </p:oleObj>
              </mc:Choice>
              <mc:Fallback>
                <p:oleObj name="Equation" r:id="rId15" imgW="1040948" imgH="431613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165" y="5548942"/>
                        <a:ext cx="2016224" cy="832386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7092280" y="4293096"/>
            <a:ext cx="127814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/>
              <a:t>Bayes</a:t>
            </a:r>
            <a:r>
              <a:rPr lang="zh-CN" altLang="zh-CN" b="1" dirty="0"/>
              <a:t>判别</a:t>
            </a:r>
            <a:r>
              <a:rPr lang="zh-CN" altLang="en-US" b="1" dirty="0"/>
              <a:t>准则</a:t>
            </a:r>
            <a:endParaRPr lang="zh-CN" altLang="en-US" b="1" dirty="0"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7092280" y="5589240"/>
            <a:ext cx="158417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 dirty="0"/>
              <a:t>线性距离</a:t>
            </a:r>
            <a:r>
              <a:rPr lang="zh-CN" altLang="zh-CN" b="1" dirty="0"/>
              <a:t>判别</a:t>
            </a:r>
            <a:r>
              <a:rPr lang="zh-CN" altLang="en-US" b="1" dirty="0"/>
              <a:t>准则</a:t>
            </a:r>
            <a:endParaRPr lang="zh-CN" altLang="en-US" b="1" dirty="0">
              <a:latin typeface="+mj-lt"/>
              <a:ea typeface="隶书" panose="02010509060101010101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326306" y="5152503"/>
            <a:ext cx="1066780" cy="421929"/>
            <a:chOff x="7326306" y="5152503"/>
            <a:chExt cx="1066780" cy="421929"/>
          </a:xfrm>
        </p:grpSpPr>
        <p:sp>
          <p:nvSpPr>
            <p:cNvPr id="27" name="上下箭头 26"/>
            <p:cNvSpPr/>
            <p:nvPr/>
          </p:nvSpPr>
          <p:spPr bwMode="auto">
            <a:xfrm>
              <a:off x="7326306" y="5157192"/>
              <a:ext cx="324036" cy="417240"/>
            </a:xfrm>
            <a:prstGeom prst="upDown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6349374"/>
                </p:ext>
              </p:extLst>
            </p:nvPr>
          </p:nvGraphicFramePr>
          <p:xfrm>
            <a:off x="7596336" y="5152503"/>
            <a:ext cx="796750" cy="4219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78" name="Equation" r:id="rId17" imgW="380880" imgH="203040" progId="Equation.DSMT4">
                    <p:embed/>
                  </p:oleObj>
                </mc:Choice>
                <mc:Fallback>
                  <p:oleObj name="Equation" r:id="rId17" imgW="380880" imgH="203040" progId="Equation.DSMT4">
                    <p:embed/>
                    <p:pic>
                      <p:nvPicPr>
                        <p:cNvPr id="0" name="对象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6336" y="5152503"/>
                          <a:ext cx="796750" cy="421929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1979712" y="1178621"/>
            <a:ext cx="5832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/>
              <a:t>总误判损失的期望</a:t>
            </a:r>
            <a:r>
              <a:rPr lang="en-US" altLang="zh-CN" sz="2800" b="1" i="1" dirty="0"/>
              <a:t>ECM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R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R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最小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560" y="1178621"/>
            <a:ext cx="972108" cy="52322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255837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25" grpId="0" animBg="1"/>
      <p:bldP spid="26" grpId="0" animBg="1"/>
      <p:bldP spid="7" grpId="0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55776" y="548680"/>
            <a:ext cx="4320480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zh-CN" sz="2800" b="1" dirty="0"/>
              <a:t>蠓虫分类的</a:t>
            </a:r>
            <a:r>
              <a:rPr lang="en-US" altLang="zh-CN" sz="2800" b="1" dirty="0"/>
              <a:t>Bayes</a:t>
            </a:r>
            <a:r>
              <a:rPr lang="zh-CN" altLang="zh-CN" sz="2800" b="1" dirty="0"/>
              <a:t>判别模型</a:t>
            </a:r>
            <a:endParaRPr lang="zh-CN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539552" y="1350375"/>
            <a:ext cx="1627369" cy="523220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CN" altLang="zh-CN" sz="2800" b="1" dirty="0"/>
              <a:t>先验概率</a:t>
            </a:r>
            <a:endParaRPr lang="zh-CN" altLang="en-US" sz="2800" b="1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63641"/>
              </p:ext>
            </p:extLst>
          </p:nvPr>
        </p:nvGraphicFramePr>
        <p:xfrm>
          <a:off x="2555777" y="1134165"/>
          <a:ext cx="2786162" cy="823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3" name="Equation" r:id="rId4" imgW="1447560" imgH="431640" progId="Equation.DSMT4">
                  <p:embed/>
                </p:oleObj>
              </mc:Choice>
              <mc:Fallback>
                <p:oleObj name="Equation" r:id="rId4" imgW="144756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7" y="1134165"/>
                        <a:ext cx="2786162" cy="8232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318906"/>
              </p:ext>
            </p:extLst>
          </p:nvPr>
        </p:nvGraphicFramePr>
        <p:xfrm>
          <a:off x="5707445" y="1125538"/>
          <a:ext cx="2969011" cy="881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4" name="Equation" r:id="rId6" imgW="1371600" imgH="431640" progId="Equation.DSMT4">
                  <p:embed/>
                </p:oleObj>
              </mc:Choice>
              <mc:Fallback>
                <p:oleObj name="Equation" r:id="rId6" imgW="1371600" imgH="43164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445" y="1125538"/>
                        <a:ext cx="2969011" cy="881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084764"/>
              </p:ext>
            </p:extLst>
          </p:nvPr>
        </p:nvGraphicFramePr>
        <p:xfrm>
          <a:off x="2411760" y="3236951"/>
          <a:ext cx="2448272" cy="43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5" name="Equation" r:id="rId8" imgW="1117115" imgH="203112" progId="Equation.DSMT4">
                  <p:embed/>
                </p:oleObj>
              </mc:Choice>
              <mc:Fallback>
                <p:oleObj name="Equation" r:id="rId8" imgW="1117115" imgH="20311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236951"/>
                        <a:ext cx="2448272" cy="43943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957346"/>
              </p:ext>
            </p:extLst>
          </p:nvPr>
        </p:nvGraphicFramePr>
        <p:xfrm>
          <a:off x="2932180" y="4715988"/>
          <a:ext cx="3944076" cy="1668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6" name="Equation" r:id="rId10" imgW="1981200" imgH="838200" progId="Equation.DSMT4">
                  <p:embed/>
                </p:oleObj>
              </mc:Choice>
              <mc:Fallback>
                <p:oleObj name="Equation" r:id="rId10" imgW="1981200" imgH="838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80" y="4715988"/>
                        <a:ext cx="3944076" cy="166864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796068"/>
              </p:ext>
            </p:extLst>
          </p:nvPr>
        </p:nvGraphicFramePr>
        <p:xfrm>
          <a:off x="3203848" y="4059533"/>
          <a:ext cx="5616624" cy="484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7" name="Equation" r:id="rId12" imgW="2755900" imgH="241300" progId="Equation.DSMT4">
                  <p:embed/>
                </p:oleObj>
              </mc:Choice>
              <mc:Fallback>
                <p:oleObj name="Equation" r:id="rId12" imgW="2755900" imgH="241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059533"/>
                        <a:ext cx="5616624" cy="48419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649808"/>
              </p:ext>
            </p:extLst>
          </p:nvPr>
        </p:nvGraphicFramePr>
        <p:xfrm>
          <a:off x="2410736" y="2003417"/>
          <a:ext cx="52657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8" name="Equation" r:id="rId14" imgW="2565360" imgH="228600" progId="Equation.DSMT4">
                  <p:embed/>
                </p:oleObj>
              </mc:Choice>
              <mc:Fallback>
                <p:oleObj name="Equation" r:id="rId14" imgW="2565360" imgH="2286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0736" y="2003417"/>
                        <a:ext cx="5265738" cy="4683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5E9EFF"/>
                          </a:gs>
                          <a:gs pos="39999">
                            <a:srgbClr val="85C2FF"/>
                          </a:gs>
                          <a:gs pos="70000">
                            <a:srgbClr val="C4D6EB"/>
                          </a:gs>
                          <a:gs pos="100000">
                            <a:srgbClr val="FFEBFA"/>
                          </a:gs>
                        </a:gsLst>
                        <a:lin ang="5400000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487194"/>
              </p:ext>
            </p:extLst>
          </p:nvPr>
        </p:nvGraphicFramePr>
        <p:xfrm>
          <a:off x="2411760" y="2564904"/>
          <a:ext cx="2232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09" name="Equation" r:id="rId16" imgW="1104840" imgH="228600" progId="Equation.DSMT4">
                  <p:embed/>
                </p:oleObj>
              </mc:Choice>
              <mc:Fallback>
                <p:oleObj name="Equation" r:id="rId16" imgW="1104840" imgH="2286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564904"/>
                        <a:ext cx="2232025" cy="46037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00476"/>
              </p:ext>
            </p:extLst>
          </p:nvPr>
        </p:nvGraphicFramePr>
        <p:xfrm>
          <a:off x="5004048" y="3219375"/>
          <a:ext cx="867738" cy="427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0" name="Equation" r:id="rId18" imgW="355320" imgH="177480" progId="Equation.DSMT4">
                  <p:embed/>
                </p:oleObj>
              </mc:Choice>
              <mc:Fallback>
                <p:oleObj name="Equation" r:id="rId18" imgW="355320" imgH="17748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3219375"/>
                        <a:ext cx="867738" cy="42739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552846" y="2038121"/>
            <a:ext cx="1627369" cy="523220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总体分布</a:t>
            </a:r>
          </a:p>
        </p:txBody>
      </p:sp>
      <p:sp>
        <p:nvSpPr>
          <p:cNvPr id="23" name="矩形 22"/>
          <p:cNvSpPr/>
          <p:nvPr/>
        </p:nvSpPr>
        <p:spPr>
          <a:xfrm>
            <a:off x="544608" y="3190248"/>
            <a:ext cx="1627369" cy="523220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CN" altLang="en-US" sz="2800" b="1" dirty="0"/>
              <a:t>误判损失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940152" y="3005450"/>
            <a:ext cx="2720869" cy="830997"/>
            <a:chOff x="5940152" y="3005450"/>
            <a:chExt cx="2720869" cy="830997"/>
          </a:xfrm>
        </p:grpSpPr>
        <p:sp>
          <p:nvSpPr>
            <p:cNvPr id="24" name="矩形 23"/>
            <p:cNvSpPr/>
            <p:nvPr/>
          </p:nvSpPr>
          <p:spPr>
            <a:xfrm>
              <a:off x="6103026" y="3005450"/>
              <a:ext cx="2557995" cy="8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zh-CN" altLang="zh-CN" b="1" dirty="0"/>
                <a:t>毒蠓</a:t>
              </a:r>
              <a:r>
                <a:rPr lang="en-US" altLang="zh-CN" b="1" dirty="0" err="1"/>
                <a:t>Apf</a:t>
              </a:r>
              <a:r>
                <a:rPr lang="zh-CN" altLang="zh-CN" b="1" dirty="0"/>
                <a:t>误判成益蠓</a:t>
              </a:r>
              <a:r>
                <a:rPr lang="en-US" altLang="zh-CN" b="1" dirty="0" err="1"/>
                <a:t>Af</a:t>
              </a:r>
              <a:r>
                <a:rPr lang="zh-CN" altLang="zh-CN" b="1" dirty="0"/>
                <a:t>的危害更大</a:t>
              </a:r>
              <a:endParaRPr lang="zh-CN" altLang="en-US" b="1" dirty="0"/>
            </a:p>
          </p:txBody>
        </p:sp>
        <p:sp>
          <p:nvSpPr>
            <p:cNvPr id="25" name="右箭头 24"/>
            <p:cNvSpPr/>
            <p:nvPr/>
          </p:nvSpPr>
          <p:spPr bwMode="auto">
            <a:xfrm>
              <a:off x="5940152" y="3330700"/>
              <a:ext cx="162874" cy="2423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467544" y="4005064"/>
            <a:ext cx="2557171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/>
              <a:t>Bayes</a:t>
            </a:r>
            <a:r>
              <a:rPr lang="zh-CN" altLang="zh-CN" sz="2800" b="1" dirty="0"/>
              <a:t>判别</a:t>
            </a:r>
            <a:r>
              <a:rPr lang="zh-CN" altLang="en-US" sz="2800" b="1" dirty="0"/>
              <a:t>函数</a:t>
            </a:r>
            <a:endParaRPr lang="zh-CN" altLang="en-US" sz="2800" b="1" dirty="0"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395536" y="4936812"/>
            <a:ext cx="2557171" cy="523220"/>
          </a:xfrm>
          <a:prstGeom prst="rect">
            <a:avLst/>
          </a:prstGeom>
          <a:solidFill>
            <a:srgbClr val="FFCCFF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/>
              <a:t>Bayes</a:t>
            </a:r>
            <a:r>
              <a:rPr lang="zh-CN" altLang="zh-CN" sz="2800" b="1" dirty="0"/>
              <a:t>判别</a:t>
            </a:r>
            <a:r>
              <a:rPr lang="zh-CN" altLang="en-US" sz="2800" b="1" dirty="0"/>
              <a:t>准则</a:t>
            </a:r>
            <a:endParaRPr lang="zh-CN" altLang="en-US" sz="2800" b="1" dirty="0">
              <a:latin typeface="+mj-lt"/>
              <a:ea typeface="隶书" panose="020105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80312" y="4926121"/>
            <a:ext cx="1381368" cy="1312500"/>
            <a:chOff x="7380312" y="4926121"/>
            <a:chExt cx="1381368" cy="131250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9321775"/>
                </p:ext>
              </p:extLst>
            </p:nvPr>
          </p:nvGraphicFramePr>
          <p:xfrm>
            <a:off x="7380312" y="5460032"/>
            <a:ext cx="1381368" cy="778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11" name="Equation" r:id="rId20" imgW="698400" imgH="393480" progId="Equation.DSMT4">
                    <p:embed/>
                  </p:oleObj>
                </mc:Choice>
                <mc:Fallback>
                  <p:oleObj name="Equation" r:id="rId20" imgW="698400" imgH="393480" progId="Equation.DSMT4">
                    <p:embed/>
                    <p:pic>
                      <p:nvPicPr>
                        <p:cNvPr id="0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0312" y="5460032"/>
                          <a:ext cx="1381368" cy="77858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矩形 27"/>
            <p:cNvSpPr/>
            <p:nvPr/>
          </p:nvSpPr>
          <p:spPr>
            <a:xfrm>
              <a:off x="7556267" y="4926121"/>
              <a:ext cx="800219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阈值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955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23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shuxuemoxing">
  <a:themeElements>
    <a:clrScheme name="shuxuemoxing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3333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F:\数学模型电子教案\shuxuemoxing.pot</Template>
  <TotalTime>28080</TotalTime>
  <Words>411</Words>
  <Application>Microsoft Office PowerPoint</Application>
  <PresentationFormat>全屏显示(4:3)</PresentationFormat>
  <Paragraphs>125</Paragraphs>
  <Slides>10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楷体_GB2312</vt:lpstr>
      <vt:lpstr>隶书</vt:lpstr>
      <vt:lpstr>宋体</vt:lpstr>
      <vt:lpstr>Arial</vt:lpstr>
      <vt:lpstr>Calibri</vt:lpstr>
      <vt:lpstr>Times New Roman</vt:lpstr>
      <vt:lpstr>shuxuemoxing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jp</dc:creator>
  <cp:lastModifiedBy>ad</cp:lastModifiedBy>
  <cp:revision>509</cp:revision>
  <dcterms:created xsi:type="dcterms:W3CDTF">2003-02-18T15:01:19Z</dcterms:created>
  <dcterms:modified xsi:type="dcterms:W3CDTF">2025-05-26T07:57:30Z</dcterms:modified>
</cp:coreProperties>
</file>